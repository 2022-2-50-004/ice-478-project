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Quattrocento Sans" panose="020F05020202040302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31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jra-media.s3.us-west-2.amazonaws.com/e0cc3d3b3fdc315dd86000c60ac1d715152b0dbf.webp"/>
          <p:cNvPicPr>
            <a:picLocks noChangeAspect="1"/>
          </p:cNvPicPr>
          <p:nvPr/>
        </p:nvPicPr>
        <p:blipFill>
          <a:blip r:embed="rId3">
            <a:alphaModFix amt="10000"/>
          </a:blip>
          <a:srcRect t="2318" b="23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98859" y="1429122"/>
            <a:ext cx="2494359" cy="419100"/>
          </a:xfrm>
          <a:prstGeom prst="roundRect">
            <a:avLst>
              <a:gd name="adj" fmla="val 0"/>
            </a:avLst>
          </a:prstGeom>
          <a:solidFill>
            <a:srgbClr val="5C7A96">
              <a:alpha val="2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8859" y="1429122"/>
            <a:ext cx="35719" cy="419100"/>
          </a:xfrm>
          <a:prstGeom prst="roundRect">
            <a:avLst>
              <a:gd name="adj" fmla="val 0"/>
            </a:avLst>
          </a:pr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569082" y="150521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ICE-478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0436"/>
            <a:ext cx="57340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Brain Cancer MRI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43015"/>
            <a:ext cx="5534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 of Supervised 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Semi-Supervised Learning Methods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5528" y="520954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9" name="Text 6"/>
          <p:cNvSpPr/>
          <p:nvPr/>
        </p:nvSpPr>
        <p:spPr>
          <a:xfrm>
            <a:off x="671401" y="5161917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80381" y="520954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8"/>
          <p:cNvSpPr/>
          <p:nvPr/>
        </p:nvSpPr>
        <p:spPr>
          <a:xfrm>
            <a:off x="1646969" y="5161917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Tumor Classes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74777" y="520954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3" name="Text 10"/>
          <p:cNvSpPr/>
          <p:nvPr/>
        </p:nvSpPr>
        <p:spPr>
          <a:xfrm>
            <a:off x="3541365" y="5161917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&amp; SSL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363"/>
            <a:ext cx="914400" cy="38100"/>
          </a:xfrm>
          <a:prstGeom prst="roundRect">
            <a:avLst>
              <a:gd name="adj" fmla="val 0"/>
            </a:avLst>
          </a:prstGeom>
          <a:solidFill>
            <a:srgbClr val="C8A97E"/>
          </a:solidFill>
          <a:ln/>
        </p:spPr>
      </p:sp>
      <p:sp>
        <p:nvSpPr>
          <p:cNvPr id="4" name="Shape 2"/>
          <p:cNvSpPr/>
          <p:nvPr/>
        </p:nvSpPr>
        <p:spPr>
          <a:xfrm>
            <a:off x="398859" y="1409402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8859" y="1409402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6" name="Shape 4"/>
          <p:cNvSpPr/>
          <p:nvPr/>
        </p:nvSpPr>
        <p:spPr>
          <a:xfrm>
            <a:off x="645170" y="16378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C7A96"/>
          </a:solidFill>
          <a:ln/>
        </p:spPr>
      </p:sp>
      <p:sp>
        <p:nvSpPr>
          <p:cNvPr id="7" name="Text 5"/>
          <p:cNvSpPr/>
          <p:nvPr/>
        </p:nvSpPr>
        <p:spPr>
          <a:xfrm>
            <a:off x="597545" y="163785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4621" y="1713942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170" y="2209167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 Cancer MRI dataset with 44 distinct tumor classes, data characteristics, and preprocessing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8085" y="1409402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8085" y="1409402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4396" y="16378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C7A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771" y="163785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3847" y="1713942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4396" y="2209167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of recent advances in brain tumor classification using deep learning and machine learning approaches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8859" y="3160923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8859" y="3160923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170" y="3389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A97E"/>
          </a:solidFill>
          <a:ln/>
        </p:spPr>
      </p:sp>
      <p:sp>
        <p:nvSpPr>
          <p:cNvPr id="19" name="Text 17"/>
          <p:cNvSpPr/>
          <p:nvPr/>
        </p:nvSpPr>
        <p:spPr>
          <a:xfrm>
            <a:off x="597545" y="33893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4621" y="3465463"/>
            <a:ext cx="2190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Methods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170" y="396068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training, evaluation metrics (Accuracy, Precision, Recall, F1-score), and train-test ratio 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8085" y="3160923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8085" y="3160923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4396" y="3389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A97E"/>
          </a:solidFill>
          <a:ln/>
        </p:spPr>
      </p:sp>
      <p:sp>
        <p:nvSpPr>
          <p:cNvPr id="25" name="Text 23"/>
          <p:cNvSpPr/>
          <p:nvPr/>
        </p:nvSpPr>
        <p:spPr>
          <a:xfrm>
            <a:off x="6426771" y="33893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3847" y="3465463"/>
            <a:ext cx="278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Semi-Supervised Learning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4396" y="396068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SimCLR framework, contrastive learning, and SSL performance across different labeled data ratios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8859" y="4912444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8859" y="4912444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170" y="5140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5C6A"/>
          </a:solidFill>
          <a:ln/>
        </p:spPr>
      </p:sp>
      <p:sp>
        <p:nvSpPr>
          <p:cNvPr id="31" name="Text 29"/>
          <p:cNvSpPr/>
          <p:nvPr/>
        </p:nvSpPr>
        <p:spPr>
          <a:xfrm>
            <a:off x="597545" y="5140896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4621" y="5216984"/>
            <a:ext cx="2695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Comparison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5170" y="5712209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SSL model learning curves, best supervised model analysis, and comparative evaluation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8085" y="4912444"/>
            <a:ext cx="5580459" cy="1524000"/>
          </a:xfrm>
          <a:custGeom>
            <a:avLst/>
            <a:gdLst/>
            <a:ahLst/>
            <a:cxnLst/>
            <a:rect l="l" t="t" r="r" b="b"/>
            <a:pathLst>
              <a:path w="5580459" h="1524000">
                <a:moveTo>
                  <a:pt x="35687" y="0"/>
                </a:moveTo>
                <a:lnTo>
                  <a:pt x="5504307" y="0"/>
                </a:lnTo>
                <a:cubicBezTo>
                  <a:pt x="5546363" y="0"/>
                  <a:pt x="5580507" y="34144"/>
                  <a:pt x="5580507" y="76200"/>
                </a:cubicBezTo>
                <a:lnTo>
                  <a:pt x="5580507" y="1447800"/>
                </a:lnTo>
                <a:cubicBezTo>
                  <a:pt x="5580507" y="1489856"/>
                  <a:pt x="5546363" y="1524000"/>
                  <a:pt x="5504307" y="1524000"/>
                </a:cubicBez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28085" y="4912444"/>
            <a:ext cx="35719" cy="1524000"/>
          </a:xfrm>
          <a:custGeom>
            <a:avLst/>
            <a:gdLst/>
            <a:ahLst/>
            <a:cxnLst/>
            <a:rect l="l" t="t" r="r" b="b"/>
            <a:pathLst>
              <a:path w="35719" h="1524000">
                <a:moveTo>
                  <a:pt x="35687" y="0"/>
                </a:moveTo>
                <a:lnTo>
                  <a:pt x="35687" y="0"/>
                </a:lnTo>
                <a:lnTo>
                  <a:pt x="35687" y="1524000"/>
                </a:lnTo>
                <a:lnTo>
                  <a:pt x="35687" y="1524000"/>
                </a:lnTo>
                <a:cubicBezTo>
                  <a:pt x="15978" y="1524000"/>
                  <a:pt x="0" y="1508022"/>
                  <a:pt x="0" y="1488313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4396" y="5140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5C6A"/>
          </a:solidFill>
          <a:ln/>
        </p:spPr>
      </p:sp>
      <p:sp>
        <p:nvSpPr>
          <p:cNvPr id="37" name="Text 35"/>
          <p:cNvSpPr/>
          <p:nvPr/>
        </p:nvSpPr>
        <p:spPr>
          <a:xfrm>
            <a:off x="6426771" y="5140896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3847" y="5216984"/>
            <a:ext cx="338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 &amp; Visualization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4396" y="5712209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t-SNE feature space analysis, cluster visualization, and conclusions for clinical applications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CHARACTERISTICS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54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Brain Cancer MRI Images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0579"/>
            <a:ext cx="914400" cy="38100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0893"/>
            <a:ext cx="5600700" cy="2971800"/>
          </a:xfrm>
          <a:prstGeom prst="roundRect">
            <a:avLst>
              <a:gd name="adj" fmla="val 2564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1393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2018481"/>
            <a:ext cx="2533650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8138" y="2170844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763" y="2627747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Tumor Classes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57476" y="2018481"/>
            <a:ext cx="2533650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24113" y="2170844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71738" y="2627747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Modality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160923"/>
            <a:ext cx="2533650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8138" y="3313286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763" y="3770188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Type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7476" y="3160923"/>
            <a:ext cx="2533650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24113" y="3313286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71738" y="3770188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493865"/>
            <a:ext cx="5600700" cy="1905000"/>
          </a:xfrm>
          <a:prstGeom prst="roundRect">
            <a:avLst>
              <a:gd name="adj" fmla="val 4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468436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Tumor Types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788" y="512229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790463" y="5065179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Astrocitoma T1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33626" y="512229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24" name="Text 22"/>
          <p:cNvSpPr/>
          <p:nvPr/>
        </p:nvSpPr>
        <p:spPr>
          <a:xfrm>
            <a:off x="3438302" y="5065179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Astrocitoma T1C+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788" y="542683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790463" y="5369719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Astrocitoma T2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33626" y="542683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302" y="5369719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Carcinoma T1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788" y="573137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8"/>
          <p:cNvSpPr/>
          <p:nvPr/>
        </p:nvSpPr>
        <p:spPr>
          <a:xfrm>
            <a:off x="790463" y="5674258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Carcinoma T1C+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33626" y="573137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32" name="Text 30"/>
          <p:cNvSpPr/>
          <p:nvPr/>
        </p:nvSpPr>
        <p:spPr>
          <a:xfrm>
            <a:off x="3438302" y="5674258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Carcinoma T2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5788" y="603591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4" name="Text 32"/>
          <p:cNvSpPr/>
          <p:nvPr/>
        </p:nvSpPr>
        <p:spPr>
          <a:xfrm>
            <a:off x="790463" y="5978798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Ependimoma T1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33626" y="603591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36" name="Text 34"/>
          <p:cNvSpPr/>
          <p:nvPr/>
        </p:nvSpPr>
        <p:spPr>
          <a:xfrm>
            <a:off x="3438302" y="5978798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+ 37 more classes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226" y="1370893"/>
            <a:ext cx="5600700" cy="2590800"/>
          </a:xfrm>
          <a:prstGeom prst="roundRect">
            <a:avLst>
              <a:gd name="adj" fmla="val 2941"/>
            </a:avLst>
          </a:prstGeom>
          <a:solidFill>
            <a:srgbClr val="2D3136">
              <a:alpha val="50196"/>
            </a:srgbClr>
          </a:solidFill>
          <a:ln/>
        </p:spPr>
      </p:sp>
      <p:pic>
        <p:nvPicPr>
          <p:cNvPr id="38" name="Image 0" descr="https://kimi-web-img.moonshot.cn/img/www.cancer.gov/d7b5fd81475e3c418695996b941e95338a712127.jpg"/>
          <p:cNvPicPr>
            <a:picLocks noChangeAspect="1"/>
          </p:cNvPicPr>
          <p:nvPr/>
        </p:nvPicPr>
        <p:blipFill>
          <a:blip r:embed="rId3"/>
          <a:srcRect t="32482" b="32482"/>
          <a:stretch/>
        </p:blipFill>
        <p:spPr>
          <a:xfrm>
            <a:off x="6400726" y="1561393"/>
            <a:ext cx="5219700" cy="1828800"/>
          </a:xfrm>
          <a:prstGeom prst="roundRect">
            <a:avLst>
              <a:gd name="adj" fmla="val 4167"/>
            </a:avLst>
          </a:prstGeom>
        </p:spPr>
      </p:pic>
      <p:sp>
        <p:nvSpPr>
          <p:cNvPr id="39" name="Text 36"/>
          <p:cNvSpPr/>
          <p:nvPr/>
        </p:nvSpPr>
        <p:spPr>
          <a:xfrm>
            <a:off x="6362626" y="3542481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 MRI scan with tumor region highlighted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10226" y="4113795"/>
            <a:ext cx="5600700" cy="1905000"/>
          </a:xfrm>
          <a:prstGeom prst="roundRect">
            <a:avLst>
              <a:gd name="adj" fmla="val 4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400726" y="430429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29301" y="47230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Text 40"/>
          <p:cNvSpPr/>
          <p:nvPr/>
        </p:nvSpPr>
        <p:spPr>
          <a:xfrm>
            <a:off x="6667314" y="4685109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resizing and normalization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29301" y="5027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5" name="Text 42"/>
          <p:cNvSpPr/>
          <p:nvPr/>
        </p:nvSpPr>
        <p:spPr>
          <a:xfrm>
            <a:off x="6667314" y="4989649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augmentation (rotation, flip, contrast)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29301" y="533214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7" name="Text 44"/>
          <p:cNvSpPr/>
          <p:nvPr/>
        </p:nvSpPr>
        <p:spPr>
          <a:xfrm>
            <a:off x="6667314" y="5294188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label encoding and verification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29301" y="56366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9" name="Text 46"/>
          <p:cNvSpPr/>
          <p:nvPr/>
        </p:nvSpPr>
        <p:spPr>
          <a:xfrm>
            <a:off x="6667314" y="5598728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 with stratification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54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Related Work in Brain Tumor Classification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0579"/>
            <a:ext cx="914400" cy="38100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0893"/>
            <a:ext cx="5638800" cy="3200400"/>
          </a:xfrm>
          <a:prstGeom prst="roundRect">
            <a:avLst>
              <a:gd name="adj" fmla="val 2381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363" y="1523256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Approaches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363" y="190407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7588" y="2037271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ResNet50 (Optimized)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31966" y="2018295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99.69%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588" y="2360972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classifier with BatchNorm and Dropout (0.4) for 4-class classification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363" y="2779923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7588" y="291312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Xception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2058" y="2894149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98.73%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588" y="3236826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accuracy with exceptional generalization capabilities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363" y="3655777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7588" y="3788978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EfficientNetB7 (CPEB7)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8709" y="3770002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98.97%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588" y="4112679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Customized layers with fine-grained hyperparameter tuning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088" y="1370893"/>
            <a:ext cx="5638800" cy="3200400"/>
          </a:xfrm>
          <a:prstGeom prst="roundRect">
            <a:avLst>
              <a:gd name="adj" fmla="val 2381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24451" y="1523256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Methods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4451" y="190407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38677" y="2037271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Committee (RC)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66958" y="2018295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98.61%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8677" y="2360972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Correlation-based feature optimization with 11 key features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4451" y="2779923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38677" y="2913125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DNN-SVM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44448" y="2894149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97.93%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677" y="3236826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filtering, GLCM features, FCM segmentation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4451" y="3655777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38677" y="3788978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Lightweight CNN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34216" y="3770002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99.54%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8677" y="4112679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4×4 convolution kernel, 1.8M parameters, 6.89MB model size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4722130"/>
            <a:ext cx="11430000" cy="1466850"/>
          </a:xfrm>
          <a:prstGeom prst="roundRect">
            <a:avLst>
              <a:gd name="adj" fmla="val 5195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3363" y="4874493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Research Trends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762088" y="525549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19769" y="9711"/>
                </a:moveTo>
                <a:cubicBezTo>
                  <a:pt x="112793" y="2735"/>
                  <a:pt x="101464" y="2735"/>
                  <a:pt x="94487" y="9711"/>
                </a:cubicBezTo>
                <a:lnTo>
                  <a:pt x="5190" y="99008"/>
                </a:lnTo>
                <a:cubicBezTo>
                  <a:pt x="-1786" y="105984"/>
                  <a:pt x="-1786" y="117314"/>
                  <a:pt x="5190" y="124290"/>
                </a:cubicBezTo>
                <a:cubicBezTo>
                  <a:pt x="12167" y="131266"/>
                  <a:pt x="23496" y="131266"/>
                  <a:pt x="30473" y="124290"/>
                </a:cubicBezTo>
                <a:lnTo>
                  <a:pt x="89297" y="65466"/>
                </a:lnTo>
                <a:lnTo>
                  <a:pt x="89297" y="272355"/>
                </a:lnTo>
                <a:cubicBezTo>
                  <a:pt x="89297" y="282234"/>
                  <a:pt x="97278" y="290215"/>
                  <a:pt x="107156" y="290215"/>
                </a:cubicBezTo>
                <a:cubicBezTo>
                  <a:pt x="117035" y="290215"/>
                  <a:pt x="125016" y="282234"/>
                  <a:pt x="125016" y="272355"/>
                </a:cubicBezTo>
                <a:lnTo>
                  <a:pt x="125016" y="65466"/>
                </a:lnTo>
                <a:lnTo>
                  <a:pt x="183840" y="124290"/>
                </a:lnTo>
                <a:cubicBezTo>
                  <a:pt x="190816" y="131266"/>
                  <a:pt x="202146" y="131266"/>
                  <a:pt x="209122" y="124290"/>
                </a:cubicBezTo>
                <a:cubicBezTo>
                  <a:pt x="216098" y="117314"/>
                  <a:pt x="216098" y="105984"/>
                  <a:pt x="209122" y="99008"/>
                </a:cubicBezTo>
                <a:lnTo>
                  <a:pt x="119825" y="9711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6" name="Text 34"/>
          <p:cNvSpPr/>
          <p:nvPr/>
        </p:nvSpPr>
        <p:spPr>
          <a:xfrm>
            <a:off x="495263" y="56173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0025" y="5845783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models fine-tuned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45732" y="52554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3314626" y="56173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Fusion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19388" y="5845783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Multi-scale feature extraction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29376" y="525549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2" name="Text 40"/>
          <p:cNvSpPr/>
          <p:nvPr/>
        </p:nvSpPr>
        <p:spPr>
          <a:xfrm>
            <a:off x="6133988" y="56173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38751" y="5845783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44 tumor classes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184457" y="52554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5" name="Text 43"/>
          <p:cNvSpPr/>
          <p:nvPr/>
        </p:nvSpPr>
        <p:spPr>
          <a:xfrm>
            <a:off x="8953351" y="56173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Methods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58114" y="5845783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Semi-supervised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54" y="318954"/>
            <a:ext cx="1161788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5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954" y="573898"/>
            <a:ext cx="11697622" cy="31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Supervised Learning: Model Training &amp; Evaluation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954" y="988320"/>
            <a:ext cx="765489" cy="31895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18954" y="1147641"/>
            <a:ext cx="5677373" cy="3030059"/>
          </a:xfrm>
          <a:prstGeom prst="roundRect">
            <a:avLst>
              <a:gd name="adj" fmla="val 2105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8430" y="1307118"/>
            <a:ext cx="54381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</a:t>
            </a:r>
            <a:endParaRPr lang="en-US" sz="1600" dirty="0"/>
          </a:p>
        </p:txBody>
      </p:sp>
      <p:pic>
        <p:nvPicPr>
          <p:cNvPr id="7" name="Image 0" descr="https://kimi-web-img.moonshot.cn/img/daxg39y63pxwu.cloudfront.net/f26284ac36358be0537c7df579e3b5c51ea7e47f.webp"/>
          <p:cNvPicPr>
            <a:picLocks noChangeAspect="1"/>
          </p:cNvPicPr>
          <p:nvPr/>
        </p:nvPicPr>
        <p:blipFill>
          <a:blip r:embed="rId3"/>
          <a:srcRect t="30152" b="30152"/>
          <a:stretch/>
        </p:blipFill>
        <p:spPr>
          <a:xfrm>
            <a:off x="478430" y="1657842"/>
            <a:ext cx="5358420" cy="1275814"/>
          </a:xfrm>
          <a:prstGeom prst="roundRect">
            <a:avLst>
              <a:gd name="adj" fmla="val 50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90391" y="3109019"/>
            <a:ext cx="95686" cy="95686"/>
          </a:xfrm>
          <a:custGeom>
            <a:avLst/>
            <a:gdLst/>
            <a:ahLst/>
            <a:cxnLst/>
            <a:rect l="l" t="t" r="r" b="b"/>
            <a:pathLst>
              <a:path w="95686" h="95686">
                <a:moveTo>
                  <a:pt x="0" y="47843"/>
                </a:moveTo>
                <a:cubicBezTo>
                  <a:pt x="0" y="21438"/>
                  <a:pt x="21438" y="0"/>
                  <a:pt x="47843" y="0"/>
                </a:cubicBezTo>
                <a:cubicBezTo>
                  <a:pt x="74248" y="0"/>
                  <a:pt x="95686" y="21438"/>
                  <a:pt x="95686" y="47843"/>
                </a:cubicBezTo>
                <a:cubicBezTo>
                  <a:pt x="95686" y="74248"/>
                  <a:pt x="74248" y="95686"/>
                  <a:pt x="47843" y="95686"/>
                </a:cubicBezTo>
                <a:cubicBezTo>
                  <a:pt x="21438" y="95686"/>
                  <a:pt x="0" y="74248"/>
                  <a:pt x="0" y="47843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9" name="Text 6"/>
          <p:cNvSpPr/>
          <p:nvPr/>
        </p:nvSpPr>
        <p:spPr>
          <a:xfrm>
            <a:off x="661735" y="3061207"/>
            <a:ext cx="208914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backbone (ResNet/EfficientNet)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90391" y="3363963"/>
            <a:ext cx="95686" cy="95686"/>
          </a:xfrm>
          <a:custGeom>
            <a:avLst/>
            <a:gdLst/>
            <a:ahLst/>
            <a:cxnLst/>
            <a:rect l="l" t="t" r="r" b="b"/>
            <a:pathLst>
              <a:path w="95686" h="95686">
                <a:moveTo>
                  <a:pt x="0" y="47843"/>
                </a:moveTo>
                <a:cubicBezTo>
                  <a:pt x="0" y="21438"/>
                  <a:pt x="21438" y="0"/>
                  <a:pt x="47843" y="0"/>
                </a:cubicBezTo>
                <a:cubicBezTo>
                  <a:pt x="74248" y="0"/>
                  <a:pt x="95686" y="21438"/>
                  <a:pt x="95686" y="47843"/>
                </a:cubicBezTo>
                <a:cubicBezTo>
                  <a:pt x="95686" y="74248"/>
                  <a:pt x="74248" y="95686"/>
                  <a:pt x="47843" y="95686"/>
                </a:cubicBezTo>
                <a:cubicBezTo>
                  <a:pt x="21438" y="95686"/>
                  <a:pt x="0" y="74248"/>
                  <a:pt x="0" y="47843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1" name="Text 8"/>
          <p:cNvSpPr/>
          <p:nvPr/>
        </p:nvSpPr>
        <p:spPr>
          <a:xfrm>
            <a:off x="661735" y="3316151"/>
            <a:ext cx="164261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Average Pooling layer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0391" y="3618908"/>
            <a:ext cx="95686" cy="95686"/>
          </a:xfrm>
          <a:custGeom>
            <a:avLst/>
            <a:gdLst/>
            <a:ahLst/>
            <a:cxnLst/>
            <a:rect l="l" t="t" r="r" b="b"/>
            <a:pathLst>
              <a:path w="95686" h="95686">
                <a:moveTo>
                  <a:pt x="0" y="47843"/>
                </a:moveTo>
                <a:cubicBezTo>
                  <a:pt x="0" y="21438"/>
                  <a:pt x="21438" y="0"/>
                  <a:pt x="47843" y="0"/>
                </a:cubicBezTo>
                <a:cubicBezTo>
                  <a:pt x="74248" y="0"/>
                  <a:pt x="95686" y="21438"/>
                  <a:pt x="95686" y="47843"/>
                </a:cubicBezTo>
                <a:cubicBezTo>
                  <a:pt x="95686" y="74248"/>
                  <a:pt x="74248" y="95686"/>
                  <a:pt x="47843" y="95686"/>
                </a:cubicBezTo>
                <a:cubicBezTo>
                  <a:pt x="21438" y="95686"/>
                  <a:pt x="0" y="74248"/>
                  <a:pt x="0" y="47843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3" name="Text 10"/>
          <p:cNvSpPr/>
          <p:nvPr/>
        </p:nvSpPr>
        <p:spPr>
          <a:xfrm>
            <a:off x="661735" y="3571096"/>
            <a:ext cx="210509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connected classifier (44 classes)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90391" y="3873853"/>
            <a:ext cx="95686" cy="95686"/>
          </a:xfrm>
          <a:custGeom>
            <a:avLst/>
            <a:gdLst/>
            <a:ahLst/>
            <a:cxnLst/>
            <a:rect l="l" t="t" r="r" b="b"/>
            <a:pathLst>
              <a:path w="95686" h="95686">
                <a:moveTo>
                  <a:pt x="0" y="47843"/>
                </a:moveTo>
                <a:cubicBezTo>
                  <a:pt x="0" y="21438"/>
                  <a:pt x="21438" y="0"/>
                  <a:pt x="47843" y="0"/>
                </a:cubicBezTo>
                <a:cubicBezTo>
                  <a:pt x="74248" y="0"/>
                  <a:pt x="95686" y="21438"/>
                  <a:pt x="95686" y="47843"/>
                </a:cubicBezTo>
                <a:cubicBezTo>
                  <a:pt x="95686" y="74248"/>
                  <a:pt x="74248" y="95686"/>
                  <a:pt x="47843" y="95686"/>
                </a:cubicBezTo>
                <a:cubicBezTo>
                  <a:pt x="21438" y="95686"/>
                  <a:pt x="0" y="74248"/>
                  <a:pt x="0" y="47843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5" name="Text 12"/>
          <p:cNvSpPr/>
          <p:nvPr/>
        </p:nvSpPr>
        <p:spPr>
          <a:xfrm>
            <a:off x="661735" y="3826041"/>
            <a:ext cx="192169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Softmax activation for multi-class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18954" y="4304316"/>
            <a:ext cx="5677373" cy="1818035"/>
          </a:xfrm>
          <a:prstGeom prst="roundRect">
            <a:avLst>
              <a:gd name="adj" fmla="val 3509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78430" y="4463793"/>
            <a:ext cx="54381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8430" y="4782590"/>
            <a:ext cx="2631367" cy="542221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74054" y="4878214"/>
            <a:ext cx="249581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4054" y="5037691"/>
            <a:ext cx="250378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07290" y="4782590"/>
            <a:ext cx="2631367" cy="542221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302914" y="4878214"/>
            <a:ext cx="249581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02914" y="5037691"/>
            <a:ext cx="250378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0.0001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78430" y="5420186"/>
            <a:ext cx="2631367" cy="542221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74054" y="5515810"/>
            <a:ext cx="249581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054" y="5675287"/>
            <a:ext cx="250378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32-64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207290" y="5420186"/>
            <a:ext cx="2631367" cy="542221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3302914" y="5515810"/>
            <a:ext cx="249581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302914" y="5675287"/>
            <a:ext cx="250378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Cross-Entropy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91250" y="1147641"/>
            <a:ext cx="5677373" cy="2679210"/>
          </a:xfrm>
          <a:prstGeom prst="roundRect">
            <a:avLst>
              <a:gd name="adj" fmla="val 2381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350727" y="1307118"/>
            <a:ext cx="54381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50727" y="1657842"/>
            <a:ext cx="2615419" cy="940913"/>
          </a:xfrm>
          <a:prstGeom prst="roundRect">
            <a:avLst>
              <a:gd name="adj" fmla="val 678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541632" y="1785392"/>
            <a:ext cx="239215" cy="239215"/>
          </a:xfrm>
          <a:custGeom>
            <a:avLst/>
            <a:gdLst/>
            <a:ahLst/>
            <a:cxnLst/>
            <a:rect l="l" t="t" r="r" b="b"/>
            <a:pathLst>
              <a:path w="239215" h="239215">
                <a:moveTo>
                  <a:pt x="209313" y="119608"/>
                </a:moveTo>
                <a:cubicBezTo>
                  <a:pt x="209313" y="70098"/>
                  <a:pt x="169118" y="29902"/>
                  <a:pt x="119608" y="29902"/>
                </a:cubicBezTo>
                <a:cubicBezTo>
                  <a:pt x="70098" y="29902"/>
                  <a:pt x="29902" y="70098"/>
                  <a:pt x="29902" y="119608"/>
                </a:cubicBezTo>
                <a:cubicBezTo>
                  <a:pt x="29902" y="169118"/>
                  <a:pt x="70098" y="209313"/>
                  <a:pt x="119608" y="209313"/>
                </a:cubicBezTo>
                <a:cubicBezTo>
                  <a:pt x="169118" y="209313"/>
                  <a:pt x="209313" y="169118"/>
                  <a:pt x="209313" y="119608"/>
                </a:cubicBezTo>
                <a:close/>
                <a:moveTo>
                  <a:pt x="0" y="119608"/>
                </a:moveTo>
                <a:cubicBezTo>
                  <a:pt x="0" y="53594"/>
                  <a:pt x="53594" y="0"/>
                  <a:pt x="119608" y="0"/>
                </a:cubicBezTo>
                <a:cubicBezTo>
                  <a:pt x="185621" y="0"/>
                  <a:pt x="239215" y="53594"/>
                  <a:pt x="239215" y="119608"/>
                </a:cubicBezTo>
                <a:cubicBezTo>
                  <a:pt x="239215" y="185621"/>
                  <a:pt x="185621" y="239215"/>
                  <a:pt x="119608" y="239215"/>
                </a:cubicBezTo>
                <a:cubicBezTo>
                  <a:pt x="53594" y="239215"/>
                  <a:pt x="0" y="185621"/>
                  <a:pt x="0" y="119608"/>
                </a:cubicBezTo>
                <a:close/>
                <a:moveTo>
                  <a:pt x="119608" y="156985"/>
                </a:moveTo>
                <a:cubicBezTo>
                  <a:pt x="140237" y="156985"/>
                  <a:pt x="156985" y="140237"/>
                  <a:pt x="156985" y="119608"/>
                </a:cubicBezTo>
                <a:cubicBezTo>
                  <a:pt x="156985" y="98978"/>
                  <a:pt x="140237" y="82230"/>
                  <a:pt x="119608" y="82230"/>
                </a:cubicBezTo>
                <a:cubicBezTo>
                  <a:pt x="98978" y="82230"/>
                  <a:pt x="82230" y="98978"/>
                  <a:pt x="82230" y="119608"/>
                </a:cubicBezTo>
                <a:cubicBezTo>
                  <a:pt x="82230" y="140237"/>
                  <a:pt x="98978" y="156985"/>
                  <a:pt x="119608" y="156985"/>
                </a:cubicBezTo>
                <a:close/>
                <a:moveTo>
                  <a:pt x="119608" y="52328"/>
                </a:moveTo>
                <a:cubicBezTo>
                  <a:pt x="156740" y="52328"/>
                  <a:pt x="186887" y="82475"/>
                  <a:pt x="186887" y="119608"/>
                </a:cubicBezTo>
                <a:cubicBezTo>
                  <a:pt x="186887" y="156740"/>
                  <a:pt x="156740" y="186887"/>
                  <a:pt x="119608" y="186887"/>
                </a:cubicBezTo>
                <a:cubicBezTo>
                  <a:pt x="82475" y="186887"/>
                  <a:pt x="52328" y="156740"/>
                  <a:pt x="52328" y="119608"/>
                </a:cubicBezTo>
                <a:cubicBezTo>
                  <a:pt x="52328" y="82475"/>
                  <a:pt x="82475" y="52328"/>
                  <a:pt x="119608" y="52328"/>
                </a:cubicBezTo>
                <a:close/>
                <a:moveTo>
                  <a:pt x="104657" y="119608"/>
                </a:moveTo>
                <a:cubicBezTo>
                  <a:pt x="104657" y="111356"/>
                  <a:pt x="111356" y="104657"/>
                  <a:pt x="119608" y="104657"/>
                </a:cubicBezTo>
                <a:cubicBezTo>
                  <a:pt x="127859" y="104657"/>
                  <a:pt x="134559" y="111356"/>
                  <a:pt x="134559" y="119608"/>
                </a:cubicBezTo>
                <a:cubicBezTo>
                  <a:pt x="134559" y="127859"/>
                  <a:pt x="127859" y="134559"/>
                  <a:pt x="119608" y="134559"/>
                </a:cubicBezTo>
                <a:cubicBezTo>
                  <a:pt x="111356" y="134559"/>
                  <a:pt x="104657" y="127859"/>
                  <a:pt x="104657" y="11960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4" name="Text 31"/>
          <p:cNvSpPr/>
          <p:nvPr/>
        </p:nvSpPr>
        <p:spPr>
          <a:xfrm>
            <a:off x="6442395" y="2088305"/>
            <a:ext cx="243202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50369" y="2311635"/>
            <a:ext cx="241607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correct predictions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095472" y="1657842"/>
            <a:ext cx="2615419" cy="940913"/>
          </a:xfrm>
          <a:prstGeom prst="roundRect">
            <a:avLst>
              <a:gd name="adj" fmla="val 678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0271426" y="1785392"/>
            <a:ext cx="269117" cy="239215"/>
          </a:xfrm>
          <a:custGeom>
            <a:avLst/>
            <a:gdLst/>
            <a:ahLst/>
            <a:cxnLst/>
            <a:rect l="l" t="t" r="r" b="b"/>
            <a:pathLst>
              <a:path w="269117" h="239215">
                <a:moveTo>
                  <a:pt x="134559" y="-7475"/>
                </a:moveTo>
                <a:cubicBezTo>
                  <a:pt x="142828" y="-7475"/>
                  <a:pt x="149509" y="-794"/>
                  <a:pt x="149509" y="7475"/>
                </a:cubicBezTo>
                <a:lnTo>
                  <a:pt x="149509" y="16026"/>
                </a:lnTo>
                <a:cubicBezTo>
                  <a:pt x="195343" y="22567"/>
                  <a:pt x="231600" y="58823"/>
                  <a:pt x="238141" y="104657"/>
                </a:cubicBezTo>
                <a:lnTo>
                  <a:pt x="246691" y="104657"/>
                </a:lnTo>
                <a:cubicBezTo>
                  <a:pt x="254960" y="104657"/>
                  <a:pt x="261642" y="111338"/>
                  <a:pt x="261642" y="119608"/>
                </a:cubicBezTo>
                <a:cubicBezTo>
                  <a:pt x="261642" y="127877"/>
                  <a:pt x="254960" y="134559"/>
                  <a:pt x="246691" y="134559"/>
                </a:cubicBezTo>
                <a:lnTo>
                  <a:pt x="238141" y="134559"/>
                </a:lnTo>
                <a:cubicBezTo>
                  <a:pt x="231600" y="180393"/>
                  <a:pt x="195343" y="216649"/>
                  <a:pt x="149509" y="223190"/>
                </a:cubicBezTo>
                <a:lnTo>
                  <a:pt x="149509" y="231740"/>
                </a:lnTo>
                <a:cubicBezTo>
                  <a:pt x="149509" y="240009"/>
                  <a:pt x="142828" y="246691"/>
                  <a:pt x="134559" y="246691"/>
                </a:cubicBezTo>
                <a:cubicBezTo>
                  <a:pt x="126289" y="246691"/>
                  <a:pt x="119608" y="240009"/>
                  <a:pt x="119608" y="231740"/>
                </a:cubicBezTo>
                <a:lnTo>
                  <a:pt x="119608" y="223190"/>
                </a:lnTo>
                <a:cubicBezTo>
                  <a:pt x="73774" y="216649"/>
                  <a:pt x="37518" y="180393"/>
                  <a:pt x="30976" y="134559"/>
                </a:cubicBezTo>
                <a:lnTo>
                  <a:pt x="22426" y="134559"/>
                </a:lnTo>
                <a:cubicBezTo>
                  <a:pt x="14157" y="134559"/>
                  <a:pt x="7475" y="127877"/>
                  <a:pt x="7475" y="119608"/>
                </a:cubicBezTo>
                <a:cubicBezTo>
                  <a:pt x="7475" y="111338"/>
                  <a:pt x="14157" y="104657"/>
                  <a:pt x="22426" y="104657"/>
                </a:cubicBezTo>
                <a:lnTo>
                  <a:pt x="30976" y="104657"/>
                </a:lnTo>
                <a:cubicBezTo>
                  <a:pt x="37518" y="58823"/>
                  <a:pt x="73774" y="22567"/>
                  <a:pt x="119608" y="16026"/>
                </a:cubicBezTo>
                <a:lnTo>
                  <a:pt x="119608" y="7475"/>
                </a:lnTo>
                <a:cubicBezTo>
                  <a:pt x="119608" y="-794"/>
                  <a:pt x="126289" y="-7475"/>
                  <a:pt x="134559" y="-7475"/>
                </a:cubicBezTo>
                <a:close/>
                <a:moveTo>
                  <a:pt x="61299" y="134559"/>
                </a:moveTo>
                <a:cubicBezTo>
                  <a:pt x="67233" y="163853"/>
                  <a:pt x="90313" y="186934"/>
                  <a:pt x="119608" y="192867"/>
                </a:cubicBezTo>
                <a:lnTo>
                  <a:pt x="119608" y="186887"/>
                </a:lnTo>
                <a:cubicBezTo>
                  <a:pt x="119608" y="178617"/>
                  <a:pt x="126289" y="171936"/>
                  <a:pt x="134559" y="171936"/>
                </a:cubicBezTo>
                <a:cubicBezTo>
                  <a:pt x="142828" y="171936"/>
                  <a:pt x="149509" y="178617"/>
                  <a:pt x="149509" y="186887"/>
                </a:cubicBezTo>
                <a:lnTo>
                  <a:pt x="149509" y="192867"/>
                </a:lnTo>
                <a:cubicBezTo>
                  <a:pt x="178804" y="186934"/>
                  <a:pt x="201885" y="163853"/>
                  <a:pt x="207818" y="134559"/>
                </a:cubicBezTo>
                <a:lnTo>
                  <a:pt x="201838" y="134559"/>
                </a:lnTo>
                <a:cubicBezTo>
                  <a:pt x="193568" y="134559"/>
                  <a:pt x="186887" y="127877"/>
                  <a:pt x="186887" y="119608"/>
                </a:cubicBezTo>
                <a:cubicBezTo>
                  <a:pt x="186887" y="111338"/>
                  <a:pt x="193568" y="104657"/>
                  <a:pt x="201838" y="104657"/>
                </a:cubicBezTo>
                <a:lnTo>
                  <a:pt x="207818" y="104657"/>
                </a:lnTo>
                <a:cubicBezTo>
                  <a:pt x="201885" y="75362"/>
                  <a:pt x="178804" y="52282"/>
                  <a:pt x="149509" y="46348"/>
                </a:cubicBezTo>
                <a:lnTo>
                  <a:pt x="149509" y="52328"/>
                </a:lnTo>
                <a:cubicBezTo>
                  <a:pt x="149509" y="60598"/>
                  <a:pt x="142828" y="67279"/>
                  <a:pt x="134559" y="67279"/>
                </a:cubicBezTo>
                <a:cubicBezTo>
                  <a:pt x="126289" y="67279"/>
                  <a:pt x="119608" y="60598"/>
                  <a:pt x="119608" y="52328"/>
                </a:cubicBezTo>
                <a:lnTo>
                  <a:pt x="119608" y="46348"/>
                </a:lnTo>
                <a:cubicBezTo>
                  <a:pt x="90313" y="52282"/>
                  <a:pt x="67233" y="75362"/>
                  <a:pt x="61299" y="104657"/>
                </a:cubicBezTo>
                <a:lnTo>
                  <a:pt x="67279" y="104657"/>
                </a:lnTo>
                <a:cubicBezTo>
                  <a:pt x="75549" y="104657"/>
                  <a:pt x="82230" y="111338"/>
                  <a:pt x="82230" y="119608"/>
                </a:cubicBezTo>
                <a:cubicBezTo>
                  <a:pt x="82230" y="127877"/>
                  <a:pt x="75549" y="134559"/>
                  <a:pt x="67279" y="134559"/>
                </a:cubicBezTo>
                <a:lnTo>
                  <a:pt x="61299" y="134559"/>
                </a:lnTo>
                <a:close/>
                <a:moveTo>
                  <a:pt x="134559" y="97181"/>
                </a:moveTo>
                <a:cubicBezTo>
                  <a:pt x="146936" y="97181"/>
                  <a:pt x="156985" y="107230"/>
                  <a:pt x="156985" y="119608"/>
                </a:cubicBezTo>
                <a:cubicBezTo>
                  <a:pt x="156985" y="131985"/>
                  <a:pt x="146936" y="142034"/>
                  <a:pt x="134559" y="142034"/>
                </a:cubicBezTo>
                <a:cubicBezTo>
                  <a:pt x="122181" y="142034"/>
                  <a:pt x="112132" y="131985"/>
                  <a:pt x="112132" y="119608"/>
                </a:cubicBezTo>
                <a:cubicBezTo>
                  <a:pt x="112132" y="107230"/>
                  <a:pt x="122181" y="97181"/>
                  <a:pt x="134559" y="9718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8" name="Text 35"/>
          <p:cNvSpPr/>
          <p:nvPr/>
        </p:nvSpPr>
        <p:spPr>
          <a:xfrm>
            <a:off x="9187140" y="2088305"/>
            <a:ext cx="243202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195114" y="2311635"/>
            <a:ext cx="241607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positives / All positives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50727" y="2726212"/>
            <a:ext cx="2615419" cy="940913"/>
          </a:xfrm>
          <a:prstGeom prst="roundRect">
            <a:avLst>
              <a:gd name="adj" fmla="val 678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541632" y="2853762"/>
            <a:ext cx="239215" cy="239215"/>
          </a:xfrm>
          <a:custGeom>
            <a:avLst/>
            <a:gdLst/>
            <a:ahLst/>
            <a:cxnLst/>
            <a:rect l="l" t="t" r="r" b="b"/>
            <a:pathLst>
              <a:path w="239215" h="239215">
                <a:moveTo>
                  <a:pt x="194362" y="97181"/>
                </a:moveTo>
                <a:cubicBezTo>
                  <a:pt x="194362" y="118626"/>
                  <a:pt x="187401" y="138436"/>
                  <a:pt x="175674" y="154509"/>
                </a:cubicBezTo>
                <a:lnTo>
                  <a:pt x="234823" y="213705"/>
                </a:lnTo>
                <a:cubicBezTo>
                  <a:pt x="240664" y="219545"/>
                  <a:pt x="240664" y="229030"/>
                  <a:pt x="234823" y="234870"/>
                </a:cubicBezTo>
                <a:cubicBezTo>
                  <a:pt x="228983" y="240710"/>
                  <a:pt x="219499" y="240710"/>
                  <a:pt x="213658" y="234870"/>
                </a:cubicBezTo>
                <a:lnTo>
                  <a:pt x="154509" y="175674"/>
                </a:lnTo>
                <a:cubicBezTo>
                  <a:pt x="138436" y="187401"/>
                  <a:pt x="118626" y="194362"/>
                  <a:pt x="97181" y="194362"/>
                </a:cubicBezTo>
                <a:cubicBezTo>
                  <a:pt x="43498" y="194362"/>
                  <a:pt x="0" y="150864"/>
                  <a:pt x="0" y="97181"/>
                </a:cubicBezTo>
                <a:cubicBezTo>
                  <a:pt x="0" y="43498"/>
                  <a:pt x="43498" y="0"/>
                  <a:pt x="97181" y="0"/>
                </a:cubicBezTo>
                <a:cubicBezTo>
                  <a:pt x="150864" y="0"/>
                  <a:pt x="194362" y="43498"/>
                  <a:pt x="194362" y="97181"/>
                </a:cubicBezTo>
                <a:close/>
                <a:moveTo>
                  <a:pt x="97181" y="164460"/>
                </a:moveTo>
                <a:cubicBezTo>
                  <a:pt x="134314" y="164460"/>
                  <a:pt x="164460" y="134314"/>
                  <a:pt x="164460" y="97181"/>
                </a:cubicBezTo>
                <a:cubicBezTo>
                  <a:pt x="164460" y="60049"/>
                  <a:pt x="134314" y="29902"/>
                  <a:pt x="97181" y="29902"/>
                </a:cubicBezTo>
                <a:cubicBezTo>
                  <a:pt x="60049" y="29902"/>
                  <a:pt x="29902" y="60049"/>
                  <a:pt x="29902" y="97181"/>
                </a:cubicBezTo>
                <a:cubicBezTo>
                  <a:pt x="29902" y="134314"/>
                  <a:pt x="60049" y="164460"/>
                  <a:pt x="97181" y="164460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42" name="Text 39"/>
          <p:cNvSpPr/>
          <p:nvPr/>
        </p:nvSpPr>
        <p:spPr>
          <a:xfrm>
            <a:off x="6442395" y="3156675"/>
            <a:ext cx="243202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50369" y="3380004"/>
            <a:ext cx="241607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positives / Actual positives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095472" y="2726212"/>
            <a:ext cx="2615419" cy="940913"/>
          </a:xfrm>
          <a:prstGeom prst="roundRect">
            <a:avLst>
              <a:gd name="adj" fmla="val 6780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256475" y="2853762"/>
            <a:ext cx="299019" cy="239215"/>
          </a:xfrm>
          <a:custGeom>
            <a:avLst/>
            <a:gdLst/>
            <a:ahLst/>
            <a:cxnLst/>
            <a:rect l="l" t="t" r="r" b="b"/>
            <a:pathLst>
              <a:path w="299019" h="239215">
                <a:moveTo>
                  <a:pt x="179411" y="14951"/>
                </a:moveTo>
                <a:lnTo>
                  <a:pt x="239215" y="14951"/>
                </a:lnTo>
                <a:cubicBezTo>
                  <a:pt x="247485" y="14951"/>
                  <a:pt x="254166" y="21632"/>
                  <a:pt x="254166" y="29902"/>
                </a:cubicBezTo>
                <a:cubicBezTo>
                  <a:pt x="254166" y="38172"/>
                  <a:pt x="247485" y="44853"/>
                  <a:pt x="239215" y="44853"/>
                </a:cubicBezTo>
                <a:lnTo>
                  <a:pt x="186139" y="44853"/>
                </a:lnTo>
                <a:cubicBezTo>
                  <a:pt x="183710" y="56907"/>
                  <a:pt x="175440" y="66859"/>
                  <a:pt x="164460" y="71624"/>
                </a:cubicBezTo>
                <a:lnTo>
                  <a:pt x="164460" y="209313"/>
                </a:lnTo>
                <a:lnTo>
                  <a:pt x="239215" y="209313"/>
                </a:lnTo>
                <a:cubicBezTo>
                  <a:pt x="247485" y="209313"/>
                  <a:pt x="254166" y="215994"/>
                  <a:pt x="254166" y="224264"/>
                </a:cubicBezTo>
                <a:cubicBezTo>
                  <a:pt x="254166" y="232534"/>
                  <a:pt x="247485" y="239215"/>
                  <a:pt x="239215" y="239215"/>
                </a:cubicBezTo>
                <a:lnTo>
                  <a:pt x="59804" y="239215"/>
                </a:lnTo>
                <a:cubicBezTo>
                  <a:pt x="51534" y="239215"/>
                  <a:pt x="44853" y="232534"/>
                  <a:pt x="44853" y="224264"/>
                </a:cubicBezTo>
                <a:cubicBezTo>
                  <a:pt x="44853" y="215994"/>
                  <a:pt x="51534" y="209313"/>
                  <a:pt x="59804" y="209313"/>
                </a:cubicBezTo>
                <a:lnTo>
                  <a:pt x="134559" y="209313"/>
                </a:lnTo>
                <a:lnTo>
                  <a:pt x="134559" y="71624"/>
                </a:lnTo>
                <a:cubicBezTo>
                  <a:pt x="123579" y="66812"/>
                  <a:pt x="115309" y="56860"/>
                  <a:pt x="112880" y="44853"/>
                </a:cubicBezTo>
                <a:lnTo>
                  <a:pt x="59804" y="44853"/>
                </a:lnTo>
                <a:cubicBezTo>
                  <a:pt x="51534" y="44853"/>
                  <a:pt x="44853" y="38172"/>
                  <a:pt x="44853" y="29902"/>
                </a:cubicBezTo>
                <a:cubicBezTo>
                  <a:pt x="44853" y="21632"/>
                  <a:pt x="51534" y="14951"/>
                  <a:pt x="59804" y="14951"/>
                </a:cubicBezTo>
                <a:lnTo>
                  <a:pt x="119608" y="14951"/>
                </a:lnTo>
                <a:cubicBezTo>
                  <a:pt x="126429" y="5887"/>
                  <a:pt x="137268" y="0"/>
                  <a:pt x="149509" y="0"/>
                </a:cubicBezTo>
                <a:cubicBezTo>
                  <a:pt x="161751" y="0"/>
                  <a:pt x="172590" y="5887"/>
                  <a:pt x="179411" y="14951"/>
                </a:cubicBezTo>
                <a:close/>
                <a:moveTo>
                  <a:pt x="205389" y="149509"/>
                </a:moveTo>
                <a:lnTo>
                  <a:pt x="273042" y="149509"/>
                </a:lnTo>
                <a:lnTo>
                  <a:pt x="239215" y="91481"/>
                </a:lnTo>
                <a:lnTo>
                  <a:pt x="205389" y="149509"/>
                </a:lnTo>
                <a:close/>
                <a:moveTo>
                  <a:pt x="239215" y="194362"/>
                </a:moveTo>
                <a:cubicBezTo>
                  <a:pt x="209827" y="194362"/>
                  <a:pt x="185392" y="178477"/>
                  <a:pt x="180346" y="157499"/>
                </a:cubicBezTo>
                <a:cubicBezTo>
                  <a:pt x="179131" y="152360"/>
                  <a:pt x="180813" y="147080"/>
                  <a:pt x="183476" y="142501"/>
                </a:cubicBezTo>
                <a:lnTo>
                  <a:pt x="227955" y="66251"/>
                </a:lnTo>
                <a:cubicBezTo>
                  <a:pt x="230291" y="62233"/>
                  <a:pt x="234590" y="59804"/>
                  <a:pt x="239215" y="59804"/>
                </a:cubicBezTo>
                <a:cubicBezTo>
                  <a:pt x="243841" y="59804"/>
                  <a:pt x="248139" y="62280"/>
                  <a:pt x="250475" y="66251"/>
                </a:cubicBezTo>
                <a:lnTo>
                  <a:pt x="294954" y="142501"/>
                </a:lnTo>
                <a:cubicBezTo>
                  <a:pt x="297617" y="147080"/>
                  <a:pt x="299299" y="152360"/>
                  <a:pt x="298085" y="157499"/>
                </a:cubicBezTo>
                <a:cubicBezTo>
                  <a:pt x="293039" y="178430"/>
                  <a:pt x="268603" y="194362"/>
                  <a:pt x="239215" y="194362"/>
                </a:cubicBezTo>
                <a:close/>
                <a:moveTo>
                  <a:pt x="59243" y="91481"/>
                </a:moveTo>
                <a:lnTo>
                  <a:pt x="25417" y="149509"/>
                </a:lnTo>
                <a:lnTo>
                  <a:pt x="93116" y="149509"/>
                </a:lnTo>
                <a:lnTo>
                  <a:pt x="59243" y="91481"/>
                </a:lnTo>
                <a:close/>
                <a:moveTo>
                  <a:pt x="420" y="157499"/>
                </a:moveTo>
                <a:cubicBezTo>
                  <a:pt x="-794" y="152360"/>
                  <a:pt x="888" y="147080"/>
                  <a:pt x="3551" y="142501"/>
                </a:cubicBezTo>
                <a:lnTo>
                  <a:pt x="48030" y="66251"/>
                </a:lnTo>
                <a:cubicBezTo>
                  <a:pt x="50366" y="62233"/>
                  <a:pt x="54664" y="59804"/>
                  <a:pt x="59290" y="59804"/>
                </a:cubicBezTo>
                <a:cubicBezTo>
                  <a:pt x="63915" y="59804"/>
                  <a:pt x="68214" y="62280"/>
                  <a:pt x="70550" y="66251"/>
                </a:cubicBezTo>
                <a:lnTo>
                  <a:pt x="115029" y="142501"/>
                </a:lnTo>
                <a:cubicBezTo>
                  <a:pt x="117692" y="147080"/>
                  <a:pt x="119374" y="152360"/>
                  <a:pt x="118159" y="157499"/>
                </a:cubicBezTo>
                <a:cubicBezTo>
                  <a:pt x="113113" y="178430"/>
                  <a:pt x="88678" y="194362"/>
                  <a:pt x="59290" y="194362"/>
                </a:cubicBezTo>
                <a:cubicBezTo>
                  <a:pt x="29902" y="194362"/>
                  <a:pt x="5466" y="178477"/>
                  <a:pt x="420" y="157499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46" name="Text 43"/>
          <p:cNvSpPr/>
          <p:nvPr/>
        </p:nvSpPr>
        <p:spPr>
          <a:xfrm>
            <a:off x="9187140" y="3156675"/>
            <a:ext cx="243202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195114" y="3380004"/>
            <a:ext cx="241607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Harmonic mean of P &amp; R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191250" y="3954059"/>
            <a:ext cx="5677373" cy="2583524"/>
          </a:xfrm>
          <a:prstGeom prst="roundRect">
            <a:avLst>
              <a:gd name="adj" fmla="val 2469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350727" y="4113535"/>
            <a:ext cx="54381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Ratios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50727" y="4464260"/>
            <a:ext cx="5358420" cy="574116"/>
          </a:xfrm>
          <a:prstGeom prst="roundRect">
            <a:avLst>
              <a:gd name="adj" fmla="val 11111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446351" y="4559884"/>
            <a:ext cx="382744" cy="382744"/>
          </a:xfrm>
          <a:prstGeom prst="roundRect">
            <a:avLst>
              <a:gd name="adj" fmla="val 50000"/>
            </a:avLst>
          </a:prstGeom>
          <a:solidFill>
            <a:srgbClr val="C8A97E"/>
          </a:solidFill>
          <a:ln/>
        </p:spPr>
      </p:sp>
      <p:sp>
        <p:nvSpPr>
          <p:cNvPr id="52" name="Text 49"/>
          <p:cNvSpPr/>
          <p:nvPr/>
        </p:nvSpPr>
        <p:spPr>
          <a:xfrm>
            <a:off x="6414455" y="4559884"/>
            <a:ext cx="446535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90:10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924625" y="4575769"/>
            <a:ext cx="78941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Training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924625" y="4767016"/>
            <a:ext cx="781436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Testing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1473513" y="4687434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25239" y="69422"/>
                </a:moveTo>
                <a:cubicBezTo>
                  <a:pt x="128354" y="66307"/>
                  <a:pt x="128354" y="61249"/>
                  <a:pt x="125239" y="58134"/>
                </a:cubicBezTo>
                <a:lnTo>
                  <a:pt x="85370" y="18265"/>
                </a:lnTo>
                <a:cubicBezTo>
                  <a:pt x="82255" y="15150"/>
                  <a:pt x="77197" y="15150"/>
                  <a:pt x="74082" y="18265"/>
                </a:cubicBezTo>
                <a:cubicBezTo>
                  <a:pt x="70967" y="21380"/>
                  <a:pt x="70967" y="26438"/>
                  <a:pt x="74082" y="29553"/>
                </a:cubicBezTo>
                <a:lnTo>
                  <a:pt x="100346" y="55817"/>
                </a:lnTo>
                <a:lnTo>
                  <a:pt x="7974" y="55817"/>
                </a:lnTo>
                <a:cubicBezTo>
                  <a:pt x="3563" y="55817"/>
                  <a:pt x="0" y="59380"/>
                  <a:pt x="0" y="63791"/>
                </a:cubicBezTo>
                <a:cubicBezTo>
                  <a:pt x="0" y="68201"/>
                  <a:pt x="3563" y="71765"/>
                  <a:pt x="7974" y="71765"/>
                </a:cubicBezTo>
                <a:lnTo>
                  <a:pt x="100346" y="71765"/>
                </a:lnTo>
                <a:lnTo>
                  <a:pt x="74082" y="98028"/>
                </a:lnTo>
                <a:cubicBezTo>
                  <a:pt x="70967" y="101143"/>
                  <a:pt x="70967" y="106202"/>
                  <a:pt x="74082" y="109316"/>
                </a:cubicBezTo>
                <a:cubicBezTo>
                  <a:pt x="77197" y="112431"/>
                  <a:pt x="82255" y="112431"/>
                  <a:pt x="85370" y="109316"/>
                </a:cubicBezTo>
                <a:lnTo>
                  <a:pt x="125239" y="69447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6" name="Shape 53"/>
          <p:cNvSpPr/>
          <p:nvPr/>
        </p:nvSpPr>
        <p:spPr>
          <a:xfrm>
            <a:off x="6350727" y="5133782"/>
            <a:ext cx="5358420" cy="574116"/>
          </a:xfrm>
          <a:prstGeom prst="roundRect">
            <a:avLst>
              <a:gd name="adj" fmla="val 11111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446351" y="5229406"/>
            <a:ext cx="382744" cy="382744"/>
          </a:xfrm>
          <a:prstGeom prst="roundRect">
            <a:avLst>
              <a:gd name="adj" fmla="val 50000"/>
            </a:avLst>
          </a:prstGeom>
          <a:solidFill>
            <a:srgbClr val="5C7A96"/>
          </a:solidFill>
          <a:ln/>
        </p:spPr>
      </p:sp>
      <p:sp>
        <p:nvSpPr>
          <p:cNvPr id="58" name="Text 55"/>
          <p:cNvSpPr/>
          <p:nvPr/>
        </p:nvSpPr>
        <p:spPr>
          <a:xfrm>
            <a:off x="6414455" y="5229406"/>
            <a:ext cx="446535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80:20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924625" y="5245291"/>
            <a:ext cx="78941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Training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924625" y="5436539"/>
            <a:ext cx="781436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Testing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1473513" y="5356956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25239" y="69422"/>
                </a:moveTo>
                <a:cubicBezTo>
                  <a:pt x="128354" y="66307"/>
                  <a:pt x="128354" y="61249"/>
                  <a:pt x="125239" y="58134"/>
                </a:cubicBezTo>
                <a:lnTo>
                  <a:pt x="85370" y="18265"/>
                </a:lnTo>
                <a:cubicBezTo>
                  <a:pt x="82255" y="15150"/>
                  <a:pt x="77197" y="15150"/>
                  <a:pt x="74082" y="18265"/>
                </a:cubicBezTo>
                <a:cubicBezTo>
                  <a:pt x="70967" y="21380"/>
                  <a:pt x="70967" y="26438"/>
                  <a:pt x="74082" y="29553"/>
                </a:cubicBezTo>
                <a:lnTo>
                  <a:pt x="100346" y="55817"/>
                </a:lnTo>
                <a:lnTo>
                  <a:pt x="7974" y="55817"/>
                </a:lnTo>
                <a:cubicBezTo>
                  <a:pt x="3563" y="55817"/>
                  <a:pt x="0" y="59380"/>
                  <a:pt x="0" y="63791"/>
                </a:cubicBezTo>
                <a:cubicBezTo>
                  <a:pt x="0" y="68201"/>
                  <a:pt x="3563" y="71765"/>
                  <a:pt x="7974" y="71765"/>
                </a:cubicBezTo>
                <a:lnTo>
                  <a:pt x="100346" y="71765"/>
                </a:lnTo>
                <a:lnTo>
                  <a:pt x="74082" y="98028"/>
                </a:lnTo>
                <a:cubicBezTo>
                  <a:pt x="70967" y="101143"/>
                  <a:pt x="70967" y="106202"/>
                  <a:pt x="74082" y="109316"/>
                </a:cubicBezTo>
                <a:cubicBezTo>
                  <a:pt x="77197" y="112431"/>
                  <a:pt x="82255" y="112431"/>
                  <a:pt x="85370" y="109316"/>
                </a:cubicBezTo>
                <a:lnTo>
                  <a:pt x="125239" y="69447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62" name="Shape 59"/>
          <p:cNvSpPr/>
          <p:nvPr/>
        </p:nvSpPr>
        <p:spPr>
          <a:xfrm>
            <a:off x="6350727" y="5803304"/>
            <a:ext cx="5358420" cy="574116"/>
          </a:xfrm>
          <a:prstGeom prst="roundRect">
            <a:avLst>
              <a:gd name="adj" fmla="val 11111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6446351" y="5898928"/>
            <a:ext cx="382744" cy="382744"/>
          </a:xfrm>
          <a:prstGeom prst="roundRect">
            <a:avLst>
              <a:gd name="adj" fmla="val 50000"/>
            </a:avLst>
          </a:prstGeom>
          <a:solidFill>
            <a:srgbClr val="4A5C6A"/>
          </a:solidFill>
          <a:ln/>
        </p:spPr>
      </p:sp>
      <p:sp>
        <p:nvSpPr>
          <p:cNvPr id="64" name="Text 61"/>
          <p:cNvSpPr/>
          <p:nvPr/>
        </p:nvSpPr>
        <p:spPr>
          <a:xfrm>
            <a:off x="6414455" y="5898928"/>
            <a:ext cx="446535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70:30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924625" y="5914813"/>
            <a:ext cx="78143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 Training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924625" y="6106061"/>
            <a:ext cx="77346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Testing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11473513" y="6026478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25239" y="69422"/>
                </a:moveTo>
                <a:cubicBezTo>
                  <a:pt x="128354" y="66307"/>
                  <a:pt x="128354" y="61249"/>
                  <a:pt x="125239" y="58134"/>
                </a:cubicBezTo>
                <a:lnTo>
                  <a:pt x="85370" y="18265"/>
                </a:lnTo>
                <a:cubicBezTo>
                  <a:pt x="82255" y="15150"/>
                  <a:pt x="77197" y="15150"/>
                  <a:pt x="74082" y="18265"/>
                </a:cubicBezTo>
                <a:cubicBezTo>
                  <a:pt x="70967" y="21380"/>
                  <a:pt x="70967" y="26438"/>
                  <a:pt x="74082" y="29553"/>
                </a:cubicBezTo>
                <a:lnTo>
                  <a:pt x="100346" y="55817"/>
                </a:lnTo>
                <a:lnTo>
                  <a:pt x="7974" y="55817"/>
                </a:lnTo>
                <a:cubicBezTo>
                  <a:pt x="3563" y="55817"/>
                  <a:pt x="0" y="59380"/>
                  <a:pt x="0" y="63791"/>
                </a:cubicBezTo>
                <a:cubicBezTo>
                  <a:pt x="0" y="68201"/>
                  <a:pt x="3563" y="71765"/>
                  <a:pt x="7974" y="71765"/>
                </a:cubicBezTo>
                <a:lnTo>
                  <a:pt x="100346" y="71765"/>
                </a:lnTo>
                <a:lnTo>
                  <a:pt x="74082" y="98028"/>
                </a:lnTo>
                <a:cubicBezTo>
                  <a:pt x="70967" y="101143"/>
                  <a:pt x="70967" y="106202"/>
                  <a:pt x="74082" y="109316"/>
                </a:cubicBezTo>
                <a:cubicBezTo>
                  <a:pt x="77197" y="112431"/>
                  <a:pt x="82255" y="112431"/>
                  <a:pt x="85370" y="109316"/>
                </a:cubicBezTo>
                <a:lnTo>
                  <a:pt x="125239" y="69447"/>
                </a:lnTo>
                <a:close/>
              </a:path>
            </a:pathLst>
          </a:custGeom>
          <a:solidFill>
            <a:srgbClr val="4A5C6A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54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Supervised Learning: Performance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0579"/>
            <a:ext cx="914400" cy="38100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pic>
        <p:nvPicPr>
          <p:cNvPr id="5" name="Image 0" descr="https://kimi-img.moonshot.cn/pub/slides/26-04-21-17:04:27-d7jjr6rv466o06c462r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" y="1370893"/>
            <a:ext cx="11430000" cy="4953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60404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kern="0" spc="5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87737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Semi-Supervised Learning: SimCLR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644" y="1012151"/>
            <a:ext cx="783946" cy="32664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26644" y="1175314"/>
            <a:ext cx="5675445" cy="2417168"/>
          </a:xfrm>
          <a:prstGeom prst="roundRect">
            <a:avLst>
              <a:gd name="adj" fmla="val 2703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89967" y="1338636"/>
            <a:ext cx="543046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SimCLR 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9967" y="1697817"/>
            <a:ext cx="326644" cy="326644"/>
          </a:xfrm>
          <a:prstGeom prst="roundRect">
            <a:avLst>
              <a:gd name="adj" fmla="val 50000"/>
            </a:avLst>
          </a:pr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457302" y="1697817"/>
            <a:ext cx="391973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540" y="1697817"/>
            <a:ext cx="4687346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540" y="1893676"/>
            <a:ext cx="4679180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two augmented views of the same image using random crop, color jitter, Gaussian blur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967" y="2154928"/>
            <a:ext cx="326644" cy="326644"/>
          </a:xfrm>
          <a:prstGeom prst="roundRect">
            <a:avLst>
              <a:gd name="adj" fmla="val 50000"/>
            </a:avLst>
          </a:prstGeom>
          <a:solidFill>
            <a:srgbClr val="5C7A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302" y="2154928"/>
            <a:ext cx="391973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540" y="2154928"/>
            <a:ext cx="402589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Encoder Network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540" y="2350787"/>
            <a:ext cx="40177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backbone (ResNet) extracts feature representations from augmented views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9967" y="2612038"/>
            <a:ext cx="326644" cy="326644"/>
          </a:xfrm>
          <a:prstGeom prst="roundRect">
            <a:avLst>
              <a:gd name="adj" fmla="val 50000"/>
            </a:avLst>
          </a:prstGeom>
          <a:solidFill>
            <a:srgbClr val="C8A97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302" y="2612038"/>
            <a:ext cx="391973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540" y="2612038"/>
            <a:ext cx="333993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Projection Head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540" y="2807897"/>
            <a:ext cx="333177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features to lower-dimensional space for contrastive learning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967" y="3069149"/>
            <a:ext cx="326644" cy="326644"/>
          </a:xfrm>
          <a:prstGeom prst="roundRect">
            <a:avLst>
              <a:gd name="adj" fmla="val 50000"/>
            </a:avLst>
          </a:prstGeom>
          <a:solidFill>
            <a:srgbClr val="5C7A9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302" y="3069149"/>
            <a:ext cx="391973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540" y="3069149"/>
            <a:ext cx="371557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Contrastive Loss (NT-Xent)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540" y="3265008"/>
            <a:ext cx="370741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Maximizes agreement between positive pairs, minimizes for negative pairs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6644" y="3722278"/>
            <a:ext cx="5675445" cy="1633222"/>
          </a:xfrm>
          <a:prstGeom prst="roundRect">
            <a:avLst>
              <a:gd name="adj" fmla="val 4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9967" y="3885600"/>
            <a:ext cx="542229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6299" y="424478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718522" y="4212245"/>
            <a:ext cx="249882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labeled data required during pretraining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6299" y="4505874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8" name="Text 26"/>
          <p:cNvSpPr/>
          <p:nvPr/>
        </p:nvSpPr>
        <p:spPr>
          <a:xfrm>
            <a:off x="718522" y="4473337"/>
            <a:ext cx="316845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meaningful representations from unlabeled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6299" y="4766966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8"/>
          <p:cNvSpPr/>
          <p:nvPr/>
        </p:nvSpPr>
        <p:spPr>
          <a:xfrm>
            <a:off x="718522" y="4734429"/>
            <a:ext cx="219668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with minimal labeled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6299" y="5028058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2" name="Text 30"/>
          <p:cNvSpPr/>
          <p:nvPr/>
        </p:nvSpPr>
        <p:spPr>
          <a:xfrm>
            <a:off x="718522" y="4995521"/>
            <a:ext cx="297246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batch sizes improve performance (256-4096)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237" y="1175314"/>
            <a:ext cx="5675445" cy="4115719"/>
          </a:xfrm>
          <a:prstGeom prst="roundRect">
            <a:avLst>
              <a:gd name="adj" fmla="val 1587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58560" y="1338636"/>
            <a:ext cx="543046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Pipeline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8560" y="1697817"/>
            <a:ext cx="5348801" cy="979933"/>
          </a:xfrm>
          <a:prstGeom prst="roundRect">
            <a:avLst>
              <a:gd name="adj" fmla="val 6667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89185" y="1828443"/>
            <a:ext cx="515281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Self-Supervised Pretraining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9185" y="2089535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encoder on unlabeled data using contrastive learning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89185" y="2318090"/>
            <a:ext cx="783946" cy="228651"/>
          </a:xfrm>
          <a:prstGeom prst="roundRect">
            <a:avLst>
              <a:gd name="adj" fmla="val 14286"/>
            </a:avLst>
          </a:prstGeom>
          <a:solidFill>
            <a:srgbClr val="5C7A96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89185" y="2318090"/>
            <a:ext cx="841109" cy="228651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800+ epochs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40885" y="2318090"/>
            <a:ext cx="914604" cy="228651"/>
          </a:xfrm>
          <a:prstGeom prst="roundRect">
            <a:avLst>
              <a:gd name="adj" fmla="val 14286"/>
            </a:avLst>
          </a:prstGeom>
          <a:solidFill>
            <a:srgbClr val="5C7A96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40885" y="2318090"/>
            <a:ext cx="971767" cy="228651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size: 256+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58030" y="2775041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64844" y="192388"/>
                </a:moveTo>
                <a:cubicBezTo>
                  <a:pt x="69629" y="197173"/>
                  <a:pt x="77399" y="197173"/>
                  <a:pt x="82184" y="192388"/>
                </a:cubicBezTo>
                <a:lnTo>
                  <a:pt x="143430" y="131143"/>
                </a:lnTo>
                <a:cubicBezTo>
                  <a:pt x="148215" y="126358"/>
                  <a:pt x="148215" y="118587"/>
                  <a:pt x="143430" y="113802"/>
                </a:cubicBezTo>
                <a:cubicBezTo>
                  <a:pt x="138645" y="109018"/>
                  <a:pt x="130875" y="109018"/>
                  <a:pt x="126090" y="113802"/>
                </a:cubicBezTo>
                <a:lnTo>
                  <a:pt x="85744" y="154148"/>
                </a:lnTo>
                <a:lnTo>
                  <a:pt x="85744" y="12249"/>
                </a:lnTo>
                <a:cubicBezTo>
                  <a:pt x="85744" y="5474"/>
                  <a:pt x="80270" y="0"/>
                  <a:pt x="73495" y="0"/>
                </a:cubicBezTo>
                <a:cubicBezTo>
                  <a:pt x="66720" y="0"/>
                  <a:pt x="61246" y="5474"/>
                  <a:pt x="61246" y="12249"/>
                </a:cubicBezTo>
                <a:lnTo>
                  <a:pt x="61246" y="154148"/>
                </a:lnTo>
                <a:lnTo>
                  <a:pt x="20900" y="113802"/>
                </a:lnTo>
                <a:cubicBezTo>
                  <a:pt x="16115" y="109018"/>
                  <a:pt x="8345" y="109018"/>
                  <a:pt x="3560" y="113802"/>
                </a:cubicBezTo>
                <a:cubicBezTo>
                  <a:pt x="-1225" y="118587"/>
                  <a:pt x="-1225" y="126358"/>
                  <a:pt x="3560" y="131143"/>
                </a:cubicBezTo>
                <a:lnTo>
                  <a:pt x="64806" y="19238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8560" y="3068989"/>
            <a:ext cx="5348801" cy="979933"/>
          </a:xfrm>
          <a:prstGeom prst="roundRect">
            <a:avLst>
              <a:gd name="adj" fmla="val 6667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89185" y="3199615"/>
            <a:ext cx="515281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 Fine-tuning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89185" y="3460707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classification head on limited labeled data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89185" y="3689263"/>
            <a:ext cx="898272" cy="228651"/>
          </a:xfrm>
          <a:prstGeom prst="roundRect">
            <a:avLst>
              <a:gd name="adj" fmla="val 14286"/>
            </a:avLst>
          </a:prstGeom>
          <a:solidFill>
            <a:srgbClr val="5C7A96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89185" y="3689263"/>
            <a:ext cx="955435" cy="228651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Frozen encoder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50298" y="3689263"/>
            <a:ext cx="939102" cy="228651"/>
          </a:xfrm>
          <a:prstGeom prst="roundRect">
            <a:avLst>
              <a:gd name="adj" fmla="val 14286"/>
            </a:avLst>
          </a:prstGeom>
          <a:solidFill>
            <a:srgbClr val="5C7A96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450298" y="3689263"/>
            <a:ext cx="996265" cy="228651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regularization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958030" y="4146214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64844" y="192388"/>
                </a:moveTo>
                <a:cubicBezTo>
                  <a:pt x="69629" y="197173"/>
                  <a:pt x="77399" y="197173"/>
                  <a:pt x="82184" y="192388"/>
                </a:cubicBezTo>
                <a:lnTo>
                  <a:pt x="143430" y="131143"/>
                </a:lnTo>
                <a:cubicBezTo>
                  <a:pt x="148215" y="126358"/>
                  <a:pt x="148215" y="118587"/>
                  <a:pt x="143430" y="113802"/>
                </a:cubicBezTo>
                <a:cubicBezTo>
                  <a:pt x="138645" y="109018"/>
                  <a:pt x="130875" y="109018"/>
                  <a:pt x="126090" y="113802"/>
                </a:cubicBezTo>
                <a:lnTo>
                  <a:pt x="85744" y="154148"/>
                </a:lnTo>
                <a:lnTo>
                  <a:pt x="85744" y="12249"/>
                </a:lnTo>
                <a:cubicBezTo>
                  <a:pt x="85744" y="5474"/>
                  <a:pt x="80270" y="0"/>
                  <a:pt x="73495" y="0"/>
                </a:cubicBezTo>
                <a:cubicBezTo>
                  <a:pt x="66720" y="0"/>
                  <a:pt x="61246" y="5474"/>
                  <a:pt x="61246" y="12249"/>
                </a:cubicBezTo>
                <a:lnTo>
                  <a:pt x="61246" y="154148"/>
                </a:lnTo>
                <a:lnTo>
                  <a:pt x="20900" y="113802"/>
                </a:lnTo>
                <a:cubicBezTo>
                  <a:pt x="16115" y="109018"/>
                  <a:pt x="8345" y="109018"/>
                  <a:pt x="3560" y="113802"/>
                </a:cubicBezTo>
                <a:cubicBezTo>
                  <a:pt x="-1225" y="118587"/>
                  <a:pt x="-1225" y="126358"/>
                  <a:pt x="3560" y="131143"/>
                </a:cubicBezTo>
                <a:lnTo>
                  <a:pt x="64806" y="19238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1" name="Shape 49"/>
          <p:cNvSpPr/>
          <p:nvPr/>
        </p:nvSpPr>
        <p:spPr>
          <a:xfrm>
            <a:off x="6358560" y="4440162"/>
            <a:ext cx="5348801" cy="685953"/>
          </a:xfrm>
          <a:prstGeom prst="roundRect">
            <a:avLst>
              <a:gd name="adj" fmla="val 9524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89185" y="4570788"/>
            <a:ext cx="515281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 Evaluation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89185" y="4831880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held-out test set with full metrics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5237" y="5419776"/>
            <a:ext cx="5675445" cy="1110591"/>
          </a:xfrm>
          <a:prstGeom prst="roundRect">
            <a:avLst>
              <a:gd name="adj" fmla="val 5882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58560" y="5583098"/>
            <a:ext cx="542229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 Methods Compared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6726" y="5942279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78982" y="-4823"/>
                </a:moveTo>
                <a:cubicBezTo>
                  <a:pt x="77935" y="-6865"/>
                  <a:pt x="75817" y="-8166"/>
                  <a:pt x="73520" y="-8166"/>
                </a:cubicBezTo>
                <a:cubicBezTo>
                  <a:pt x="71224" y="-8166"/>
                  <a:pt x="69106" y="-6865"/>
                  <a:pt x="68059" y="-4823"/>
                </a:cubicBezTo>
                <a:lnTo>
                  <a:pt x="49277" y="31975"/>
                </a:lnTo>
                <a:lnTo>
                  <a:pt x="8472" y="38457"/>
                </a:lnTo>
                <a:cubicBezTo>
                  <a:pt x="6201" y="38815"/>
                  <a:pt x="4313" y="40422"/>
                  <a:pt x="3598" y="42617"/>
                </a:cubicBezTo>
                <a:cubicBezTo>
                  <a:pt x="2884" y="44812"/>
                  <a:pt x="3471" y="47210"/>
                  <a:pt x="5078" y="48844"/>
                </a:cubicBezTo>
                <a:lnTo>
                  <a:pt x="34272" y="78063"/>
                </a:lnTo>
                <a:lnTo>
                  <a:pt x="27841" y="118868"/>
                </a:lnTo>
                <a:cubicBezTo>
                  <a:pt x="27484" y="121139"/>
                  <a:pt x="28428" y="123436"/>
                  <a:pt x="30291" y="124788"/>
                </a:cubicBezTo>
                <a:cubicBezTo>
                  <a:pt x="32154" y="126141"/>
                  <a:pt x="34604" y="126345"/>
                  <a:pt x="36671" y="125299"/>
                </a:cubicBezTo>
                <a:lnTo>
                  <a:pt x="73520" y="106568"/>
                </a:lnTo>
                <a:lnTo>
                  <a:pt x="110345" y="125299"/>
                </a:lnTo>
                <a:cubicBezTo>
                  <a:pt x="112386" y="126345"/>
                  <a:pt x="114861" y="126141"/>
                  <a:pt x="116724" y="124788"/>
                </a:cubicBezTo>
                <a:cubicBezTo>
                  <a:pt x="118587" y="123436"/>
                  <a:pt x="119531" y="121165"/>
                  <a:pt x="119174" y="118868"/>
                </a:cubicBezTo>
                <a:lnTo>
                  <a:pt x="112718" y="78063"/>
                </a:lnTo>
                <a:lnTo>
                  <a:pt x="141912" y="48844"/>
                </a:lnTo>
                <a:cubicBezTo>
                  <a:pt x="143545" y="47210"/>
                  <a:pt x="144106" y="44812"/>
                  <a:pt x="143392" y="42617"/>
                </a:cubicBezTo>
                <a:cubicBezTo>
                  <a:pt x="142677" y="40422"/>
                  <a:pt x="140814" y="38815"/>
                  <a:pt x="138518" y="38457"/>
                </a:cubicBezTo>
                <a:lnTo>
                  <a:pt x="97738" y="31975"/>
                </a:lnTo>
                <a:lnTo>
                  <a:pt x="78982" y="-482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7" name="Text 55"/>
          <p:cNvSpPr/>
          <p:nvPr/>
        </p:nvSpPr>
        <p:spPr>
          <a:xfrm>
            <a:off x="6587115" y="5909743"/>
            <a:ext cx="50629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SimCLR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72387" y="5942279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78982" y="-4823"/>
                </a:moveTo>
                <a:cubicBezTo>
                  <a:pt x="77935" y="-6865"/>
                  <a:pt x="75817" y="-8166"/>
                  <a:pt x="73520" y="-8166"/>
                </a:cubicBezTo>
                <a:cubicBezTo>
                  <a:pt x="71224" y="-8166"/>
                  <a:pt x="69106" y="-6865"/>
                  <a:pt x="68059" y="-4823"/>
                </a:cubicBezTo>
                <a:lnTo>
                  <a:pt x="49277" y="31975"/>
                </a:lnTo>
                <a:lnTo>
                  <a:pt x="8472" y="38457"/>
                </a:lnTo>
                <a:cubicBezTo>
                  <a:pt x="6201" y="38815"/>
                  <a:pt x="4313" y="40422"/>
                  <a:pt x="3598" y="42617"/>
                </a:cubicBezTo>
                <a:cubicBezTo>
                  <a:pt x="2884" y="44812"/>
                  <a:pt x="3471" y="47210"/>
                  <a:pt x="5078" y="48844"/>
                </a:cubicBezTo>
                <a:lnTo>
                  <a:pt x="34272" y="78063"/>
                </a:lnTo>
                <a:lnTo>
                  <a:pt x="27841" y="118868"/>
                </a:lnTo>
                <a:cubicBezTo>
                  <a:pt x="27484" y="121139"/>
                  <a:pt x="28428" y="123436"/>
                  <a:pt x="30291" y="124788"/>
                </a:cubicBezTo>
                <a:cubicBezTo>
                  <a:pt x="32154" y="126141"/>
                  <a:pt x="34604" y="126345"/>
                  <a:pt x="36671" y="125299"/>
                </a:cubicBezTo>
                <a:lnTo>
                  <a:pt x="73520" y="106568"/>
                </a:lnTo>
                <a:lnTo>
                  <a:pt x="110345" y="125299"/>
                </a:lnTo>
                <a:cubicBezTo>
                  <a:pt x="112386" y="126345"/>
                  <a:pt x="114861" y="126141"/>
                  <a:pt x="116724" y="124788"/>
                </a:cubicBezTo>
                <a:cubicBezTo>
                  <a:pt x="118587" y="123436"/>
                  <a:pt x="119531" y="121165"/>
                  <a:pt x="119174" y="118868"/>
                </a:cubicBezTo>
                <a:lnTo>
                  <a:pt x="112718" y="78063"/>
                </a:lnTo>
                <a:lnTo>
                  <a:pt x="141912" y="48844"/>
                </a:lnTo>
                <a:cubicBezTo>
                  <a:pt x="143545" y="47210"/>
                  <a:pt x="144106" y="44812"/>
                  <a:pt x="143392" y="42617"/>
                </a:cubicBezTo>
                <a:cubicBezTo>
                  <a:pt x="142677" y="40422"/>
                  <a:pt x="140814" y="38815"/>
                  <a:pt x="138518" y="38457"/>
                </a:cubicBezTo>
                <a:lnTo>
                  <a:pt x="97738" y="31975"/>
                </a:lnTo>
                <a:lnTo>
                  <a:pt x="78982" y="-4823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59" name="Text 57"/>
          <p:cNvSpPr/>
          <p:nvPr/>
        </p:nvSpPr>
        <p:spPr>
          <a:xfrm>
            <a:off x="9292776" y="5909743"/>
            <a:ext cx="37564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BYOL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66726" y="6203372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78982" y="-4823"/>
                </a:moveTo>
                <a:cubicBezTo>
                  <a:pt x="77935" y="-6865"/>
                  <a:pt x="75817" y="-8166"/>
                  <a:pt x="73520" y="-8166"/>
                </a:cubicBezTo>
                <a:cubicBezTo>
                  <a:pt x="71224" y="-8166"/>
                  <a:pt x="69106" y="-6865"/>
                  <a:pt x="68059" y="-4823"/>
                </a:cubicBezTo>
                <a:lnTo>
                  <a:pt x="49277" y="31975"/>
                </a:lnTo>
                <a:lnTo>
                  <a:pt x="8472" y="38457"/>
                </a:lnTo>
                <a:cubicBezTo>
                  <a:pt x="6201" y="38815"/>
                  <a:pt x="4313" y="40422"/>
                  <a:pt x="3598" y="42617"/>
                </a:cubicBezTo>
                <a:cubicBezTo>
                  <a:pt x="2884" y="44812"/>
                  <a:pt x="3471" y="47210"/>
                  <a:pt x="5078" y="48844"/>
                </a:cubicBezTo>
                <a:lnTo>
                  <a:pt x="34272" y="78063"/>
                </a:lnTo>
                <a:lnTo>
                  <a:pt x="27841" y="118868"/>
                </a:lnTo>
                <a:cubicBezTo>
                  <a:pt x="27484" y="121139"/>
                  <a:pt x="28428" y="123436"/>
                  <a:pt x="30291" y="124788"/>
                </a:cubicBezTo>
                <a:cubicBezTo>
                  <a:pt x="32154" y="126141"/>
                  <a:pt x="34604" y="126345"/>
                  <a:pt x="36671" y="125299"/>
                </a:cubicBezTo>
                <a:lnTo>
                  <a:pt x="73520" y="106568"/>
                </a:lnTo>
                <a:lnTo>
                  <a:pt x="110345" y="125299"/>
                </a:lnTo>
                <a:cubicBezTo>
                  <a:pt x="112386" y="126345"/>
                  <a:pt x="114861" y="126141"/>
                  <a:pt x="116724" y="124788"/>
                </a:cubicBezTo>
                <a:cubicBezTo>
                  <a:pt x="118587" y="123436"/>
                  <a:pt x="119531" y="121165"/>
                  <a:pt x="119174" y="118868"/>
                </a:cubicBezTo>
                <a:lnTo>
                  <a:pt x="112718" y="78063"/>
                </a:lnTo>
                <a:lnTo>
                  <a:pt x="141912" y="48844"/>
                </a:lnTo>
                <a:cubicBezTo>
                  <a:pt x="143545" y="47210"/>
                  <a:pt x="144106" y="44812"/>
                  <a:pt x="143392" y="42617"/>
                </a:cubicBezTo>
                <a:cubicBezTo>
                  <a:pt x="142677" y="40422"/>
                  <a:pt x="140814" y="38815"/>
                  <a:pt x="138518" y="38457"/>
                </a:cubicBezTo>
                <a:lnTo>
                  <a:pt x="97738" y="31975"/>
                </a:lnTo>
                <a:lnTo>
                  <a:pt x="78982" y="-482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1" name="Text 59"/>
          <p:cNvSpPr/>
          <p:nvPr/>
        </p:nvSpPr>
        <p:spPr>
          <a:xfrm>
            <a:off x="6587115" y="6170835"/>
            <a:ext cx="383807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72387" y="6203372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78982" y="-4823"/>
                </a:moveTo>
                <a:cubicBezTo>
                  <a:pt x="77935" y="-6865"/>
                  <a:pt x="75817" y="-8166"/>
                  <a:pt x="73520" y="-8166"/>
                </a:cubicBezTo>
                <a:cubicBezTo>
                  <a:pt x="71224" y="-8166"/>
                  <a:pt x="69106" y="-6865"/>
                  <a:pt x="68059" y="-4823"/>
                </a:cubicBezTo>
                <a:lnTo>
                  <a:pt x="49277" y="31975"/>
                </a:lnTo>
                <a:lnTo>
                  <a:pt x="8472" y="38457"/>
                </a:lnTo>
                <a:cubicBezTo>
                  <a:pt x="6201" y="38815"/>
                  <a:pt x="4313" y="40422"/>
                  <a:pt x="3598" y="42617"/>
                </a:cubicBezTo>
                <a:cubicBezTo>
                  <a:pt x="2884" y="44812"/>
                  <a:pt x="3471" y="47210"/>
                  <a:pt x="5078" y="48844"/>
                </a:cubicBezTo>
                <a:lnTo>
                  <a:pt x="34272" y="78063"/>
                </a:lnTo>
                <a:lnTo>
                  <a:pt x="27841" y="118868"/>
                </a:lnTo>
                <a:cubicBezTo>
                  <a:pt x="27484" y="121139"/>
                  <a:pt x="28428" y="123436"/>
                  <a:pt x="30291" y="124788"/>
                </a:cubicBezTo>
                <a:cubicBezTo>
                  <a:pt x="32154" y="126141"/>
                  <a:pt x="34604" y="126345"/>
                  <a:pt x="36671" y="125299"/>
                </a:cubicBezTo>
                <a:lnTo>
                  <a:pt x="73520" y="106568"/>
                </a:lnTo>
                <a:lnTo>
                  <a:pt x="110345" y="125299"/>
                </a:lnTo>
                <a:cubicBezTo>
                  <a:pt x="112386" y="126345"/>
                  <a:pt x="114861" y="126141"/>
                  <a:pt x="116724" y="124788"/>
                </a:cubicBezTo>
                <a:cubicBezTo>
                  <a:pt x="118587" y="123436"/>
                  <a:pt x="119531" y="121165"/>
                  <a:pt x="119174" y="118868"/>
                </a:cubicBezTo>
                <a:lnTo>
                  <a:pt x="112718" y="78063"/>
                </a:lnTo>
                <a:lnTo>
                  <a:pt x="141912" y="48844"/>
                </a:lnTo>
                <a:cubicBezTo>
                  <a:pt x="143545" y="47210"/>
                  <a:pt x="144106" y="44812"/>
                  <a:pt x="143392" y="42617"/>
                </a:cubicBezTo>
                <a:cubicBezTo>
                  <a:pt x="142677" y="40422"/>
                  <a:pt x="140814" y="38815"/>
                  <a:pt x="138518" y="38457"/>
                </a:cubicBezTo>
                <a:lnTo>
                  <a:pt x="97738" y="31975"/>
                </a:lnTo>
                <a:lnTo>
                  <a:pt x="78982" y="-4823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63" name="Text 61"/>
          <p:cNvSpPr/>
          <p:nvPr/>
        </p:nvSpPr>
        <p:spPr>
          <a:xfrm>
            <a:off x="9292776" y="6170835"/>
            <a:ext cx="40830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MoCo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54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Semi-Supervised Learning: Performance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0579"/>
            <a:ext cx="914400" cy="38100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pic>
        <p:nvPicPr>
          <p:cNvPr id="5" name="Image 0" descr="https://kimi-img.moonshot.cn/pub/slides/26-04-21-17:04:27-d7jjr6rof8ju9grsrvh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" y="1370893"/>
            <a:ext cx="11430000" cy="4953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CURVE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54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Best SSL Model: SimCLR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0579"/>
            <a:ext cx="914400" cy="38100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0893"/>
            <a:ext cx="7467600" cy="4762500"/>
          </a:xfrm>
          <a:prstGeom prst="roundRect">
            <a:avLst>
              <a:gd name="adj" fmla="val 16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1393"/>
            <a:ext cx="718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&amp; Validation Learning Curve</a:t>
            </a:r>
            <a:endParaRPr lang="en-US" sz="1600" dirty="0"/>
          </a:p>
        </p:txBody>
      </p:sp>
      <p:pic>
        <p:nvPicPr>
          <p:cNvPr id="7" name="Image 0" descr="https://kimi-img.moonshot.cn/pub/slides/26-04-21-17:04:27-d7jjr6pn4ejlf99in8l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980344"/>
            <a:ext cx="7086600" cy="3810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077274" y="1370893"/>
            <a:ext cx="3733800" cy="3009900"/>
          </a:xfrm>
          <a:prstGeom prst="roundRect">
            <a:avLst>
              <a:gd name="adj" fmla="val 2532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67774" y="1561393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Configuration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67774" y="1942393"/>
            <a:ext cx="3352800" cy="6477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382000" y="2056619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Method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2000" y="224711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SimCLR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67774" y="2704021"/>
            <a:ext cx="3352800" cy="6477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382000" y="2818247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Train-Test Ratio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2000" y="3008747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90:10 Split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67774" y="3465649"/>
            <a:ext cx="3352800" cy="723900"/>
          </a:xfrm>
          <a:prstGeom prst="roundRect">
            <a:avLst>
              <a:gd name="adj" fmla="val 10526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3579875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Accuracy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3770375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96.8%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7274" y="4532188"/>
            <a:ext cx="3733800" cy="1600200"/>
          </a:xfrm>
          <a:prstGeom prst="roundRect">
            <a:avLst>
              <a:gd name="adj" fmla="val 4762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67774" y="4722688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05874" y="514164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19"/>
          <p:cNvSpPr/>
          <p:nvPr/>
        </p:nvSpPr>
        <p:spPr>
          <a:xfrm>
            <a:off x="8534363" y="5103688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convergence after 400 epochs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05874" y="544617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Text 21"/>
          <p:cNvSpPr/>
          <p:nvPr/>
        </p:nvSpPr>
        <p:spPr>
          <a:xfrm>
            <a:off x="8534363" y="5408228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overfitting observed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05874" y="57507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3"/>
          <p:cNvSpPr/>
          <p:nvPr/>
        </p:nvSpPr>
        <p:spPr>
          <a:xfrm>
            <a:off x="8534363" y="5712768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generalization to test set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kern="0" spc="5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HEAD-TO-HEAD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65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Best Supervised vs Best SSL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089503"/>
            <a:ext cx="843859" cy="35161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pic>
        <p:nvPicPr>
          <p:cNvPr id="5" name="Image 0" descr="https://kimi-img.moonshot.cn/pub/slides/26-04-21-17:04:27-d7jjr6t96bk1uha97tv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1608" y="1265136"/>
            <a:ext cx="10548234" cy="4219293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51608" y="5625038"/>
            <a:ext cx="2768911" cy="879019"/>
          </a:xfrm>
          <a:prstGeom prst="roundRect">
            <a:avLst>
              <a:gd name="adj" fmla="val 8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6290" y="5765647"/>
            <a:ext cx="26194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97.2%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056" y="6152278"/>
            <a:ext cx="25579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(90:10)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58209" y="5625038"/>
            <a:ext cx="2768911" cy="879019"/>
          </a:xfrm>
          <a:prstGeom prst="roundRect">
            <a:avLst>
              <a:gd name="adj" fmla="val 8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332892" y="5765647"/>
            <a:ext cx="26194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96.8%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63657" y="6152278"/>
            <a:ext cx="25579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SimCLR (90:10)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64811" y="5625038"/>
            <a:ext cx="2768911" cy="879019"/>
          </a:xfrm>
          <a:prstGeom prst="roundRect">
            <a:avLst>
              <a:gd name="adj" fmla="val 8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239493" y="5765647"/>
            <a:ext cx="26194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70259" y="6152278"/>
            <a:ext cx="25579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Gap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71412" y="5625038"/>
            <a:ext cx="2768911" cy="879019"/>
          </a:xfrm>
          <a:prstGeom prst="roundRect">
            <a:avLst>
              <a:gd name="adj" fmla="val 8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146095" y="5765647"/>
            <a:ext cx="26194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5C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76860" y="6152278"/>
            <a:ext cx="255794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Data Need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777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54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SPACE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614059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t-SNE Visualization: SSL Method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274" y="1057482"/>
            <a:ext cx="819057" cy="34127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41274" y="1227952"/>
            <a:ext cx="7542147" cy="5289741"/>
          </a:xfrm>
          <a:prstGeom prst="roundRect">
            <a:avLst>
              <a:gd name="adj" fmla="val 129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1910" y="1398589"/>
            <a:ext cx="728619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2D Embedding Visualization</a:t>
            </a:r>
            <a:endParaRPr lang="en-US" sz="1600" dirty="0"/>
          </a:p>
        </p:txBody>
      </p:sp>
      <p:pic>
        <p:nvPicPr>
          <p:cNvPr id="7" name="Image 0" descr="https://kimi-img.moonshot.cn/pub/slides/26-04-21-17:04:27-d7jjr6tjqed477n4mu8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910" y="1773856"/>
            <a:ext cx="6347689" cy="3412736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084252" y="1227952"/>
            <a:ext cx="3771073" cy="1706368"/>
          </a:xfrm>
          <a:prstGeom prst="roundRect">
            <a:avLst>
              <a:gd name="adj" fmla="val 4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54889" y="1398589"/>
            <a:ext cx="350658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t-SNE Parameters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4889" y="1739862"/>
            <a:ext cx="69107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Perplexity: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21151" y="1739862"/>
            <a:ext cx="23036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54889" y="2012648"/>
            <a:ext cx="89584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Rate: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5999" y="2012648"/>
            <a:ext cx="3156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54889" y="2285433"/>
            <a:ext cx="65695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Iterations: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373677" y="2285433"/>
            <a:ext cx="37540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54889" y="2558219"/>
            <a:ext cx="86171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517151" y="2558219"/>
            <a:ext cx="23036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84252" y="3069963"/>
            <a:ext cx="3771073" cy="1706368"/>
          </a:xfrm>
          <a:prstGeom prst="roundRect">
            <a:avLst>
              <a:gd name="adj" fmla="val 4000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254889" y="3240600"/>
            <a:ext cx="350658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Quality Analysis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71953" y="3615867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90757" y="56710"/>
                </a:moveTo>
                <a:lnTo>
                  <a:pt x="69428" y="90837"/>
                </a:lnTo>
                <a:cubicBezTo>
                  <a:pt x="68308" y="92624"/>
                  <a:pt x="66388" y="93744"/>
                  <a:pt x="64282" y="93850"/>
                </a:cubicBezTo>
                <a:cubicBezTo>
                  <a:pt x="62176" y="93957"/>
                  <a:pt x="60149" y="92997"/>
                  <a:pt x="58896" y="91291"/>
                </a:cubicBezTo>
                <a:lnTo>
                  <a:pt x="46099" y="74227"/>
                </a:lnTo>
                <a:cubicBezTo>
                  <a:pt x="43966" y="71401"/>
                  <a:pt x="44552" y="67402"/>
                  <a:pt x="47378" y="65269"/>
                </a:cubicBezTo>
                <a:cubicBezTo>
                  <a:pt x="50205" y="63136"/>
                  <a:pt x="54204" y="63722"/>
                  <a:pt x="56337" y="66548"/>
                </a:cubicBezTo>
                <a:lnTo>
                  <a:pt x="63536" y="76147"/>
                </a:lnTo>
                <a:lnTo>
                  <a:pt x="79906" y="49938"/>
                </a:lnTo>
                <a:cubicBezTo>
                  <a:pt x="81772" y="46952"/>
                  <a:pt x="85718" y="46019"/>
                  <a:pt x="88731" y="47912"/>
                </a:cubicBezTo>
                <a:cubicBezTo>
                  <a:pt x="91744" y="49805"/>
                  <a:pt x="92650" y="53724"/>
                  <a:pt x="90757" y="5673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1" name="Text 18"/>
          <p:cNvSpPr/>
          <p:nvPr/>
        </p:nvSpPr>
        <p:spPr>
          <a:xfrm>
            <a:off x="8493680" y="3581873"/>
            <a:ext cx="202204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SimCLR: Well-separated clusters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71953" y="3888653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90757" y="56710"/>
                </a:moveTo>
                <a:lnTo>
                  <a:pt x="69428" y="90837"/>
                </a:lnTo>
                <a:cubicBezTo>
                  <a:pt x="68308" y="92624"/>
                  <a:pt x="66388" y="93744"/>
                  <a:pt x="64282" y="93850"/>
                </a:cubicBezTo>
                <a:cubicBezTo>
                  <a:pt x="62176" y="93957"/>
                  <a:pt x="60149" y="92997"/>
                  <a:pt x="58896" y="91291"/>
                </a:cubicBezTo>
                <a:lnTo>
                  <a:pt x="46099" y="74227"/>
                </a:lnTo>
                <a:cubicBezTo>
                  <a:pt x="43966" y="71401"/>
                  <a:pt x="44552" y="67402"/>
                  <a:pt x="47378" y="65269"/>
                </a:cubicBezTo>
                <a:cubicBezTo>
                  <a:pt x="50205" y="63136"/>
                  <a:pt x="54204" y="63722"/>
                  <a:pt x="56337" y="66548"/>
                </a:cubicBezTo>
                <a:lnTo>
                  <a:pt x="63536" y="76147"/>
                </a:lnTo>
                <a:lnTo>
                  <a:pt x="79906" y="49938"/>
                </a:lnTo>
                <a:cubicBezTo>
                  <a:pt x="81772" y="46952"/>
                  <a:pt x="85718" y="46019"/>
                  <a:pt x="88731" y="47912"/>
                </a:cubicBezTo>
                <a:cubicBezTo>
                  <a:pt x="91744" y="49805"/>
                  <a:pt x="92650" y="53724"/>
                  <a:pt x="90757" y="56737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23" name="Text 20"/>
          <p:cNvSpPr/>
          <p:nvPr/>
        </p:nvSpPr>
        <p:spPr>
          <a:xfrm>
            <a:off x="8493680" y="3854659"/>
            <a:ext cx="19708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BYOL: Good class discrimination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71953" y="4161439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90757" y="56710"/>
                </a:moveTo>
                <a:lnTo>
                  <a:pt x="69428" y="90837"/>
                </a:lnTo>
                <a:cubicBezTo>
                  <a:pt x="68308" y="92624"/>
                  <a:pt x="66388" y="93744"/>
                  <a:pt x="64282" y="93850"/>
                </a:cubicBezTo>
                <a:cubicBezTo>
                  <a:pt x="62176" y="93957"/>
                  <a:pt x="60149" y="92997"/>
                  <a:pt x="58896" y="91291"/>
                </a:cubicBezTo>
                <a:lnTo>
                  <a:pt x="46099" y="74227"/>
                </a:lnTo>
                <a:cubicBezTo>
                  <a:pt x="43966" y="71401"/>
                  <a:pt x="44552" y="67402"/>
                  <a:pt x="47378" y="65269"/>
                </a:cubicBezTo>
                <a:cubicBezTo>
                  <a:pt x="50205" y="63136"/>
                  <a:pt x="54204" y="63722"/>
                  <a:pt x="56337" y="66548"/>
                </a:cubicBezTo>
                <a:lnTo>
                  <a:pt x="63536" y="76147"/>
                </a:lnTo>
                <a:lnTo>
                  <a:pt x="79906" y="49938"/>
                </a:lnTo>
                <a:cubicBezTo>
                  <a:pt x="81772" y="46952"/>
                  <a:pt x="85718" y="46019"/>
                  <a:pt x="88731" y="47912"/>
                </a:cubicBezTo>
                <a:cubicBezTo>
                  <a:pt x="91744" y="49805"/>
                  <a:pt x="92650" y="53724"/>
                  <a:pt x="90757" y="5673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Text 22"/>
          <p:cNvSpPr/>
          <p:nvPr/>
        </p:nvSpPr>
        <p:spPr>
          <a:xfrm>
            <a:off x="8493680" y="4127444"/>
            <a:ext cx="168930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DINO: Moderate separation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71953" y="4434224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59723" y="42659"/>
                </a:moveTo>
                <a:cubicBezTo>
                  <a:pt x="59723" y="37950"/>
                  <a:pt x="63546" y="34127"/>
                  <a:pt x="68255" y="34127"/>
                </a:cubicBezTo>
                <a:cubicBezTo>
                  <a:pt x="72964" y="34127"/>
                  <a:pt x="76787" y="37950"/>
                  <a:pt x="76787" y="42659"/>
                </a:cubicBezTo>
                <a:cubicBezTo>
                  <a:pt x="76787" y="47368"/>
                  <a:pt x="72964" y="51191"/>
                  <a:pt x="68255" y="51191"/>
                </a:cubicBezTo>
                <a:cubicBezTo>
                  <a:pt x="63546" y="51191"/>
                  <a:pt x="59723" y="47368"/>
                  <a:pt x="59723" y="42659"/>
                </a:cubicBezTo>
                <a:close/>
                <a:moveTo>
                  <a:pt x="57590" y="59723"/>
                </a:moveTo>
                <a:lnTo>
                  <a:pt x="70388" y="59723"/>
                </a:lnTo>
                <a:cubicBezTo>
                  <a:pt x="73934" y="59723"/>
                  <a:pt x="76787" y="62576"/>
                  <a:pt x="76787" y="66122"/>
                </a:cubicBezTo>
                <a:lnTo>
                  <a:pt x="76787" y="89584"/>
                </a:lnTo>
                <a:lnTo>
                  <a:pt x="78920" y="89584"/>
                </a:lnTo>
                <a:cubicBezTo>
                  <a:pt x="82466" y="89584"/>
                  <a:pt x="85318" y="92437"/>
                  <a:pt x="85318" y="95983"/>
                </a:cubicBezTo>
                <a:cubicBezTo>
                  <a:pt x="85318" y="99529"/>
                  <a:pt x="82466" y="102382"/>
                  <a:pt x="78920" y="102382"/>
                </a:cubicBezTo>
                <a:lnTo>
                  <a:pt x="57590" y="102382"/>
                </a:lnTo>
                <a:cubicBezTo>
                  <a:pt x="54044" y="102382"/>
                  <a:pt x="51191" y="99529"/>
                  <a:pt x="51191" y="95983"/>
                </a:cubicBezTo>
                <a:cubicBezTo>
                  <a:pt x="51191" y="92437"/>
                  <a:pt x="54044" y="89584"/>
                  <a:pt x="57590" y="89584"/>
                </a:cubicBezTo>
                <a:lnTo>
                  <a:pt x="63989" y="89584"/>
                </a:lnTo>
                <a:lnTo>
                  <a:pt x="63989" y="72521"/>
                </a:lnTo>
                <a:lnTo>
                  <a:pt x="57590" y="72521"/>
                </a:lnTo>
                <a:cubicBezTo>
                  <a:pt x="54044" y="72521"/>
                  <a:pt x="51191" y="69668"/>
                  <a:pt x="51191" y="66122"/>
                </a:cubicBezTo>
                <a:cubicBezTo>
                  <a:pt x="51191" y="62576"/>
                  <a:pt x="54044" y="59723"/>
                  <a:pt x="57590" y="59723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27" name="Text 24"/>
          <p:cNvSpPr/>
          <p:nvPr/>
        </p:nvSpPr>
        <p:spPr>
          <a:xfrm>
            <a:off x="8493680" y="4400230"/>
            <a:ext cx="190260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classes partially overlapping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084252" y="4911974"/>
            <a:ext cx="3771073" cy="1603986"/>
          </a:xfrm>
          <a:prstGeom prst="roundRect">
            <a:avLst>
              <a:gd name="adj" fmla="val 4255"/>
            </a:avLst>
          </a:prstGeom>
          <a:solidFill>
            <a:srgbClr val="2D3136">
              <a:alpha val="50196"/>
            </a:srgbClr>
          </a:solidFill>
          <a:ln/>
        </p:spPr>
      </p:sp>
      <p:pic>
        <p:nvPicPr>
          <p:cNvPr id="29" name="Image 1" descr="https://kimi-web-img.moonshot.cn/img/substackcdn.com/fe56fcf115554d73eb7d0e1875bc6a3582456482.png"/>
          <p:cNvPicPr>
            <a:picLocks noChangeAspect="1"/>
          </p:cNvPicPr>
          <p:nvPr/>
        </p:nvPicPr>
        <p:blipFill>
          <a:blip r:embed="rId4"/>
          <a:srcRect t="22249" b="22249"/>
          <a:stretch/>
        </p:blipFill>
        <p:spPr>
          <a:xfrm>
            <a:off x="8220728" y="5048450"/>
            <a:ext cx="3498055" cy="1092076"/>
          </a:xfrm>
          <a:prstGeom prst="roundRect">
            <a:avLst>
              <a:gd name="adj" fmla="val 6250"/>
            </a:avLst>
          </a:prstGeom>
        </p:spPr>
      </p:pic>
      <p:sp>
        <p:nvSpPr>
          <p:cNvPr id="30" name="Text 26"/>
          <p:cNvSpPr/>
          <p:nvPr/>
        </p:nvSpPr>
        <p:spPr>
          <a:xfrm>
            <a:off x="8190867" y="6208580"/>
            <a:ext cx="355777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t-SNE cluster separation example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521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kern="0" spc="56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39570"/>
            <a:ext cx="1164105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Conclusions &amp; Future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452" y="1101415"/>
            <a:ext cx="853085" cy="35545"/>
          </a:xfrm>
          <a:prstGeom prst="roundRect">
            <a:avLst>
              <a:gd name="adj" fmla="val 0"/>
            </a:avLst>
          </a:prstGeom>
          <a:solidFill>
            <a:srgbClr val="5C7A96"/>
          </a:solidFill>
          <a:ln/>
        </p:spPr>
      </p:sp>
      <p:sp>
        <p:nvSpPr>
          <p:cNvPr id="5" name="Shape 3"/>
          <p:cNvSpPr/>
          <p:nvPr/>
        </p:nvSpPr>
        <p:spPr>
          <a:xfrm>
            <a:off x="355452" y="1278967"/>
            <a:ext cx="5633913" cy="2985796"/>
          </a:xfrm>
          <a:prstGeom prst="roundRect">
            <a:avLst>
              <a:gd name="adj" fmla="val 2381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178" y="1456693"/>
            <a:ext cx="536732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064" y="188295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60107" y="0"/>
                </a:moveTo>
                <a:lnTo>
                  <a:pt x="153414" y="0"/>
                </a:lnTo>
                <a:cubicBezTo>
                  <a:pt x="164452" y="0"/>
                  <a:pt x="173449" y="9081"/>
                  <a:pt x="173033" y="20077"/>
                </a:cubicBezTo>
                <a:cubicBezTo>
                  <a:pt x="172950" y="22285"/>
                  <a:pt x="172866" y="24493"/>
                  <a:pt x="172741" y="26659"/>
                </a:cubicBezTo>
                <a:lnTo>
                  <a:pt x="193402" y="26659"/>
                </a:lnTo>
                <a:cubicBezTo>
                  <a:pt x="204274" y="26659"/>
                  <a:pt x="213854" y="35656"/>
                  <a:pt x="213021" y="47403"/>
                </a:cubicBezTo>
                <a:cubicBezTo>
                  <a:pt x="209897" y="90599"/>
                  <a:pt x="187820" y="114342"/>
                  <a:pt x="163869" y="126755"/>
                </a:cubicBezTo>
                <a:cubicBezTo>
                  <a:pt x="157287" y="130170"/>
                  <a:pt x="150581" y="132711"/>
                  <a:pt x="144208" y="134586"/>
                </a:cubicBezTo>
                <a:cubicBezTo>
                  <a:pt x="135794" y="146499"/>
                  <a:pt x="127046" y="152789"/>
                  <a:pt x="120090" y="156163"/>
                </a:cubicBezTo>
                <a:lnTo>
                  <a:pt x="120090" y="186612"/>
                </a:lnTo>
                <a:lnTo>
                  <a:pt x="146749" y="186612"/>
                </a:lnTo>
                <a:cubicBezTo>
                  <a:pt x="154122" y="186612"/>
                  <a:pt x="160078" y="192569"/>
                  <a:pt x="160078" y="199942"/>
                </a:cubicBezTo>
                <a:cubicBezTo>
                  <a:pt x="160078" y="207315"/>
                  <a:pt x="154122" y="213271"/>
                  <a:pt x="146749" y="213271"/>
                </a:cubicBezTo>
                <a:lnTo>
                  <a:pt x="66772" y="213271"/>
                </a:lnTo>
                <a:cubicBezTo>
                  <a:pt x="59399" y="213271"/>
                  <a:pt x="53443" y="207315"/>
                  <a:pt x="53443" y="199942"/>
                </a:cubicBezTo>
                <a:cubicBezTo>
                  <a:pt x="53443" y="192569"/>
                  <a:pt x="59399" y="186612"/>
                  <a:pt x="66772" y="186612"/>
                </a:cubicBezTo>
                <a:lnTo>
                  <a:pt x="93431" y="186612"/>
                </a:lnTo>
                <a:lnTo>
                  <a:pt x="93431" y="156163"/>
                </a:lnTo>
                <a:cubicBezTo>
                  <a:pt x="86766" y="152955"/>
                  <a:pt x="78477" y="146999"/>
                  <a:pt x="70396" y="136044"/>
                </a:cubicBezTo>
                <a:cubicBezTo>
                  <a:pt x="62732" y="134044"/>
                  <a:pt x="54401" y="131003"/>
                  <a:pt x="46278" y="126421"/>
                </a:cubicBezTo>
                <a:cubicBezTo>
                  <a:pt x="23743" y="113800"/>
                  <a:pt x="3416" y="90015"/>
                  <a:pt x="500" y="47320"/>
                </a:cubicBezTo>
                <a:cubicBezTo>
                  <a:pt x="-292" y="35615"/>
                  <a:pt x="9247" y="26617"/>
                  <a:pt x="20119" y="26617"/>
                </a:cubicBezTo>
                <a:lnTo>
                  <a:pt x="40780" y="26617"/>
                </a:lnTo>
                <a:cubicBezTo>
                  <a:pt x="40655" y="24451"/>
                  <a:pt x="40572" y="22285"/>
                  <a:pt x="40488" y="20036"/>
                </a:cubicBezTo>
                <a:cubicBezTo>
                  <a:pt x="40072" y="8997"/>
                  <a:pt x="49069" y="-42"/>
                  <a:pt x="60107" y="-42"/>
                </a:cubicBezTo>
                <a:close/>
                <a:moveTo>
                  <a:pt x="42279" y="46653"/>
                </a:moveTo>
                <a:lnTo>
                  <a:pt x="20452" y="46653"/>
                </a:lnTo>
                <a:cubicBezTo>
                  <a:pt x="23035" y="81934"/>
                  <a:pt x="39239" y="99596"/>
                  <a:pt x="55942" y="108968"/>
                </a:cubicBezTo>
                <a:cubicBezTo>
                  <a:pt x="49944" y="93431"/>
                  <a:pt x="44987" y="73145"/>
                  <a:pt x="42279" y="46653"/>
                </a:cubicBezTo>
                <a:close/>
                <a:moveTo>
                  <a:pt x="158287" y="106969"/>
                </a:moveTo>
                <a:cubicBezTo>
                  <a:pt x="175157" y="97055"/>
                  <a:pt x="190403" y="79435"/>
                  <a:pt x="192985" y="46653"/>
                </a:cubicBezTo>
                <a:lnTo>
                  <a:pt x="171200" y="46653"/>
                </a:lnTo>
                <a:cubicBezTo>
                  <a:pt x="168617" y="72021"/>
                  <a:pt x="163952" y="91723"/>
                  <a:pt x="158287" y="106969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873704" y="1847551"/>
            <a:ext cx="5011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 Excellence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704" y="2060684"/>
            <a:ext cx="5002985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97.2% accuracy with 90:10 split, demonstrating strong performance with sufficient labeled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6507" y="255810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53318" y="133294"/>
                </a:moveTo>
                <a:lnTo>
                  <a:pt x="10205" y="133294"/>
                </a:lnTo>
                <a:cubicBezTo>
                  <a:pt x="-167" y="133294"/>
                  <a:pt x="-6540" y="122006"/>
                  <a:pt x="-1208" y="113092"/>
                </a:cubicBezTo>
                <a:lnTo>
                  <a:pt x="20827" y="76353"/>
                </a:lnTo>
                <a:cubicBezTo>
                  <a:pt x="24451" y="70313"/>
                  <a:pt x="30949" y="66647"/>
                  <a:pt x="37989" y="66647"/>
                </a:cubicBezTo>
                <a:lnTo>
                  <a:pt x="77561" y="66647"/>
                </a:lnTo>
                <a:cubicBezTo>
                  <a:pt x="109260" y="12955"/>
                  <a:pt x="156538" y="10247"/>
                  <a:pt x="188153" y="14871"/>
                </a:cubicBezTo>
                <a:cubicBezTo>
                  <a:pt x="193485" y="15662"/>
                  <a:pt x="197651" y="19828"/>
                  <a:pt x="198400" y="25118"/>
                </a:cubicBezTo>
                <a:cubicBezTo>
                  <a:pt x="203024" y="56733"/>
                  <a:pt x="200317" y="104011"/>
                  <a:pt x="146624" y="135710"/>
                </a:cubicBezTo>
                <a:lnTo>
                  <a:pt x="146624" y="175282"/>
                </a:lnTo>
                <a:cubicBezTo>
                  <a:pt x="146624" y="182322"/>
                  <a:pt x="142958" y="188820"/>
                  <a:pt x="136918" y="192444"/>
                </a:cubicBezTo>
                <a:lnTo>
                  <a:pt x="100179" y="214479"/>
                </a:lnTo>
                <a:cubicBezTo>
                  <a:pt x="91307" y="219811"/>
                  <a:pt x="79977" y="213396"/>
                  <a:pt x="79977" y="203066"/>
                </a:cubicBezTo>
                <a:lnTo>
                  <a:pt x="79977" y="159953"/>
                </a:lnTo>
                <a:cubicBezTo>
                  <a:pt x="79977" y="145249"/>
                  <a:pt x="68022" y="133294"/>
                  <a:pt x="53318" y="133294"/>
                </a:cubicBezTo>
                <a:lnTo>
                  <a:pt x="53276" y="133294"/>
                </a:lnTo>
                <a:close/>
                <a:moveTo>
                  <a:pt x="166618" y="66647"/>
                </a:moveTo>
                <a:cubicBezTo>
                  <a:pt x="166618" y="55612"/>
                  <a:pt x="157659" y="46653"/>
                  <a:pt x="146624" y="46653"/>
                </a:cubicBezTo>
                <a:cubicBezTo>
                  <a:pt x="135589" y="46653"/>
                  <a:pt x="126630" y="55612"/>
                  <a:pt x="126630" y="66647"/>
                </a:cubicBezTo>
                <a:cubicBezTo>
                  <a:pt x="126630" y="77682"/>
                  <a:pt x="135589" y="86641"/>
                  <a:pt x="146624" y="86641"/>
                </a:cubicBezTo>
                <a:cubicBezTo>
                  <a:pt x="157659" y="86641"/>
                  <a:pt x="166618" y="77682"/>
                  <a:pt x="166618" y="66647"/>
                </a:cubicBez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1" name="Text 9"/>
          <p:cNvSpPr/>
          <p:nvPr/>
        </p:nvSpPr>
        <p:spPr>
          <a:xfrm>
            <a:off x="875613" y="2522702"/>
            <a:ext cx="5011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Competitive 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5613" y="2735834"/>
            <a:ext cx="5002985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SimCLR reached 96.8% accuracy, only 0.4% behind supervised, with minimal labeled data requirements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9837" y="323325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6659" y="26659"/>
                </a:moveTo>
                <a:cubicBezTo>
                  <a:pt x="26659" y="19286"/>
                  <a:pt x="20702" y="13329"/>
                  <a:pt x="13329" y="13329"/>
                </a:cubicBezTo>
                <a:cubicBezTo>
                  <a:pt x="5957" y="13329"/>
                  <a:pt x="0" y="19286"/>
                  <a:pt x="0" y="26659"/>
                </a:cubicBezTo>
                <a:lnTo>
                  <a:pt x="0" y="166618"/>
                </a:lnTo>
                <a:cubicBezTo>
                  <a:pt x="0" y="185029"/>
                  <a:pt x="14912" y="199942"/>
                  <a:pt x="33324" y="199942"/>
                </a:cubicBezTo>
                <a:lnTo>
                  <a:pt x="199942" y="199942"/>
                </a:lnTo>
                <a:cubicBezTo>
                  <a:pt x="207315" y="199942"/>
                  <a:pt x="213271" y="193985"/>
                  <a:pt x="213271" y="186612"/>
                </a:cubicBezTo>
                <a:cubicBezTo>
                  <a:pt x="213271" y="179239"/>
                  <a:pt x="207315" y="173283"/>
                  <a:pt x="199942" y="173283"/>
                </a:cubicBezTo>
                <a:lnTo>
                  <a:pt x="33324" y="173283"/>
                </a:lnTo>
                <a:cubicBezTo>
                  <a:pt x="29658" y="173283"/>
                  <a:pt x="26659" y="170284"/>
                  <a:pt x="26659" y="166618"/>
                </a:cubicBezTo>
                <a:lnTo>
                  <a:pt x="26659" y="26659"/>
                </a:lnTo>
                <a:close/>
                <a:moveTo>
                  <a:pt x="196026" y="62732"/>
                </a:moveTo>
                <a:cubicBezTo>
                  <a:pt x="201233" y="57525"/>
                  <a:pt x="201233" y="49069"/>
                  <a:pt x="196026" y="43862"/>
                </a:cubicBezTo>
                <a:cubicBezTo>
                  <a:pt x="190819" y="38655"/>
                  <a:pt x="182363" y="38655"/>
                  <a:pt x="177157" y="43862"/>
                </a:cubicBezTo>
                <a:lnTo>
                  <a:pt x="133294" y="87766"/>
                </a:lnTo>
                <a:lnTo>
                  <a:pt x="109385" y="63898"/>
                </a:lnTo>
                <a:cubicBezTo>
                  <a:pt x="104178" y="58691"/>
                  <a:pt x="95722" y="58691"/>
                  <a:pt x="90515" y="63898"/>
                </a:cubicBezTo>
                <a:lnTo>
                  <a:pt x="50527" y="103886"/>
                </a:lnTo>
                <a:cubicBezTo>
                  <a:pt x="45320" y="109093"/>
                  <a:pt x="45320" y="117549"/>
                  <a:pt x="50527" y="122756"/>
                </a:cubicBezTo>
                <a:cubicBezTo>
                  <a:pt x="55734" y="127963"/>
                  <a:pt x="64190" y="127963"/>
                  <a:pt x="69396" y="122756"/>
                </a:cubicBezTo>
                <a:lnTo>
                  <a:pt x="99971" y="92181"/>
                </a:lnTo>
                <a:lnTo>
                  <a:pt x="123881" y="116091"/>
                </a:lnTo>
                <a:cubicBezTo>
                  <a:pt x="129087" y="121298"/>
                  <a:pt x="137543" y="121298"/>
                  <a:pt x="142750" y="116091"/>
                </a:cubicBezTo>
                <a:lnTo>
                  <a:pt x="196068" y="6277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906333" y="3197852"/>
            <a:ext cx="47363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Train-Test Ratio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6333" y="3410984"/>
            <a:ext cx="472751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90:10 split consistently produced best results across both supervised and SSL methods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9837" y="3730683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0" y="33324"/>
                </a:moveTo>
                <a:cubicBezTo>
                  <a:pt x="0" y="22285"/>
                  <a:pt x="8956" y="13329"/>
                  <a:pt x="19994" y="13329"/>
                </a:cubicBezTo>
                <a:lnTo>
                  <a:pt x="59983" y="13329"/>
                </a:lnTo>
                <a:cubicBezTo>
                  <a:pt x="71021" y="13329"/>
                  <a:pt x="79977" y="22285"/>
                  <a:pt x="79977" y="33324"/>
                </a:cubicBezTo>
                <a:lnTo>
                  <a:pt x="79977" y="39988"/>
                </a:lnTo>
                <a:lnTo>
                  <a:pt x="133294" y="39988"/>
                </a:lnTo>
                <a:lnTo>
                  <a:pt x="133294" y="33324"/>
                </a:lnTo>
                <a:cubicBezTo>
                  <a:pt x="133294" y="22285"/>
                  <a:pt x="142250" y="13329"/>
                  <a:pt x="153289" y="13329"/>
                </a:cubicBezTo>
                <a:lnTo>
                  <a:pt x="193277" y="13329"/>
                </a:lnTo>
                <a:cubicBezTo>
                  <a:pt x="204315" y="13329"/>
                  <a:pt x="213271" y="22285"/>
                  <a:pt x="213271" y="33324"/>
                </a:cubicBezTo>
                <a:lnTo>
                  <a:pt x="213271" y="73312"/>
                </a:lnTo>
                <a:cubicBezTo>
                  <a:pt x="213271" y="84350"/>
                  <a:pt x="204315" y="93306"/>
                  <a:pt x="193277" y="93306"/>
                </a:cubicBezTo>
                <a:lnTo>
                  <a:pt x="153289" y="93306"/>
                </a:lnTo>
                <a:cubicBezTo>
                  <a:pt x="142250" y="93306"/>
                  <a:pt x="133294" y="84350"/>
                  <a:pt x="133294" y="73312"/>
                </a:cubicBezTo>
                <a:lnTo>
                  <a:pt x="133294" y="66647"/>
                </a:lnTo>
                <a:lnTo>
                  <a:pt x="79977" y="66647"/>
                </a:lnTo>
                <a:lnTo>
                  <a:pt x="79977" y="73312"/>
                </a:lnTo>
                <a:cubicBezTo>
                  <a:pt x="79977" y="76353"/>
                  <a:pt x="79269" y="79269"/>
                  <a:pt x="78061" y="81851"/>
                </a:cubicBezTo>
                <a:lnTo>
                  <a:pt x="106636" y="119965"/>
                </a:lnTo>
                <a:lnTo>
                  <a:pt x="139959" y="119965"/>
                </a:lnTo>
                <a:cubicBezTo>
                  <a:pt x="150998" y="119965"/>
                  <a:pt x="159953" y="128921"/>
                  <a:pt x="159953" y="139959"/>
                </a:cubicBezTo>
                <a:lnTo>
                  <a:pt x="159953" y="179948"/>
                </a:lnTo>
                <a:cubicBezTo>
                  <a:pt x="159953" y="190986"/>
                  <a:pt x="150998" y="199942"/>
                  <a:pt x="139959" y="199942"/>
                </a:cubicBezTo>
                <a:lnTo>
                  <a:pt x="99971" y="199942"/>
                </a:lnTo>
                <a:cubicBezTo>
                  <a:pt x="88932" y="199942"/>
                  <a:pt x="79977" y="190986"/>
                  <a:pt x="79977" y="179948"/>
                </a:cubicBezTo>
                <a:lnTo>
                  <a:pt x="79977" y="139959"/>
                </a:lnTo>
                <a:cubicBezTo>
                  <a:pt x="79977" y="136918"/>
                  <a:pt x="80685" y="134003"/>
                  <a:pt x="81893" y="131420"/>
                </a:cubicBezTo>
                <a:lnTo>
                  <a:pt x="53318" y="93306"/>
                </a:lnTo>
                <a:lnTo>
                  <a:pt x="19994" y="93306"/>
                </a:lnTo>
                <a:cubicBezTo>
                  <a:pt x="8956" y="93306"/>
                  <a:pt x="0" y="84350"/>
                  <a:pt x="0" y="73312"/>
                </a:cubicBezTo>
                <a:lnTo>
                  <a:pt x="0" y="33324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17" name="Text 15"/>
          <p:cNvSpPr/>
          <p:nvPr/>
        </p:nvSpPr>
        <p:spPr>
          <a:xfrm>
            <a:off x="906333" y="3695277"/>
            <a:ext cx="49674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Representations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333" y="3908409"/>
            <a:ext cx="495855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t-SNE visualizations confirm SSL learns discriminative features with well-separated clusters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4441" y="1278967"/>
            <a:ext cx="5633913" cy="4052152"/>
          </a:xfrm>
          <a:prstGeom prst="roundRect">
            <a:avLst>
              <a:gd name="adj" fmla="val 1754"/>
            </a:avLst>
          </a:prstGeom>
          <a:solidFill>
            <a:srgbClr val="2D3136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82167" y="1456693"/>
            <a:ext cx="536732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2167" y="1847551"/>
            <a:ext cx="5278461" cy="746449"/>
          </a:xfrm>
          <a:prstGeom prst="roundRect">
            <a:avLst>
              <a:gd name="adj" fmla="val 9524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42085" y="2025104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3" name="Text 21"/>
          <p:cNvSpPr/>
          <p:nvPr/>
        </p:nvSpPr>
        <p:spPr>
          <a:xfrm>
            <a:off x="6773025" y="1989698"/>
            <a:ext cx="17506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SSL Frameworks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4313" y="2273816"/>
            <a:ext cx="50563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BYOL, DINO, SwAV, and Barlow Twins for potentially better performance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82167" y="2700254"/>
            <a:ext cx="5278461" cy="746449"/>
          </a:xfrm>
          <a:prstGeom prst="roundRect">
            <a:avLst>
              <a:gd name="adj" fmla="val 9524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42085" y="2877807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27" name="Text 25"/>
          <p:cNvSpPr/>
          <p:nvPr/>
        </p:nvSpPr>
        <p:spPr>
          <a:xfrm>
            <a:off x="6773025" y="2842400"/>
            <a:ext cx="11996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Expansion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4313" y="3126519"/>
            <a:ext cx="50563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dataset size and diversity to improve model generalization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2167" y="3552957"/>
            <a:ext cx="5278461" cy="746449"/>
          </a:xfrm>
          <a:prstGeom prst="roundRect">
            <a:avLst>
              <a:gd name="adj" fmla="val 9524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42085" y="3730509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1" name="Text 29"/>
          <p:cNvSpPr/>
          <p:nvPr/>
        </p:nvSpPr>
        <p:spPr>
          <a:xfrm>
            <a:off x="6773025" y="3695103"/>
            <a:ext cx="11641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Validation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24313" y="3979221"/>
            <a:ext cx="50563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models in real clinical settings with radiologist feedback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2167" y="4405660"/>
            <a:ext cx="5278461" cy="746449"/>
          </a:xfrm>
          <a:prstGeom prst="roundRect">
            <a:avLst>
              <a:gd name="adj" fmla="val 9524"/>
            </a:avLst>
          </a:prstGeom>
          <a:solidFill>
            <a:srgbClr val="1A1D21">
              <a:alpha val="7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42085" y="458321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5C7A96"/>
          </a:solidFill>
          <a:ln/>
        </p:spPr>
      </p:sp>
      <p:sp>
        <p:nvSpPr>
          <p:cNvPr id="35" name="Text 33"/>
          <p:cNvSpPr/>
          <p:nvPr/>
        </p:nvSpPr>
        <p:spPr>
          <a:xfrm>
            <a:off x="6773025" y="4547806"/>
            <a:ext cx="13951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Interpretability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4313" y="4831924"/>
            <a:ext cx="50563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attention mechanisms and Grad-CAM for explainable AI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2114" y="5471668"/>
            <a:ext cx="11471099" cy="1030810"/>
          </a:xfrm>
          <a:custGeom>
            <a:avLst/>
            <a:gdLst/>
            <a:ahLst/>
            <a:cxnLst/>
            <a:rect l="l" t="t" r="r" b="b"/>
            <a:pathLst>
              <a:path w="11471099" h="1030810">
                <a:moveTo>
                  <a:pt x="33274" y="0"/>
                </a:moveTo>
                <a:lnTo>
                  <a:pt x="11400028" y="0"/>
                </a:lnTo>
                <a:cubicBezTo>
                  <a:pt x="11439306" y="0"/>
                  <a:pt x="11471148" y="31842"/>
                  <a:pt x="11471148" y="71120"/>
                </a:cubicBezTo>
                <a:lnTo>
                  <a:pt x="11471148" y="959739"/>
                </a:lnTo>
                <a:cubicBezTo>
                  <a:pt x="11471148" y="999017"/>
                  <a:pt x="11439306" y="1030859"/>
                  <a:pt x="11400028" y="1030859"/>
                </a:cubicBezTo>
                <a:lnTo>
                  <a:pt x="33274" y="1030859"/>
                </a:lnTo>
                <a:cubicBezTo>
                  <a:pt x="24427" y="1030859"/>
                  <a:pt x="15944" y="1027336"/>
                  <a:pt x="9701" y="1021068"/>
                </a:cubicBezTo>
                <a:cubicBezTo>
                  <a:pt x="3457" y="1014801"/>
                  <a:pt x="-34" y="1006305"/>
                  <a:pt x="0" y="99745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C8A97E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372114" y="5471668"/>
            <a:ext cx="33324" cy="1030810"/>
          </a:xfrm>
          <a:custGeom>
            <a:avLst/>
            <a:gdLst/>
            <a:ahLst/>
            <a:cxnLst/>
            <a:rect l="l" t="t" r="r" b="b"/>
            <a:pathLst>
              <a:path w="33324" h="1030810">
                <a:moveTo>
                  <a:pt x="33274" y="0"/>
                </a:moveTo>
                <a:lnTo>
                  <a:pt x="33274" y="0"/>
                </a:lnTo>
                <a:lnTo>
                  <a:pt x="33274" y="1030859"/>
                </a:lnTo>
                <a:lnTo>
                  <a:pt x="33274" y="1030859"/>
                </a:lnTo>
                <a:cubicBezTo>
                  <a:pt x="24427" y="1030859"/>
                  <a:pt x="15944" y="1027336"/>
                  <a:pt x="9701" y="1021068"/>
                </a:cubicBezTo>
                <a:cubicBezTo>
                  <a:pt x="3457" y="1014801"/>
                  <a:pt x="-34" y="1006305"/>
                  <a:pt x="0" y="99745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530922" y="5613814"/>
            <a:ext cx="10725761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Impact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0922" y="5933686"/>
            <a:ext cx="10716875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Semi-supervised learning shows promise for medical image classification with limited labeled data, potentially reducing annotation burden while maintaining diagnostic accuracy.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99338" y="5773490"/>
            <a:ext cx="479860" cy="426542"/>
          </a:xfrm>
          <a:custGeom>
            <a:avLst/>
            <a:gdLst/>
            <a:ahLst/>
            <a:cxnLst/>
            <a:rect l="l" t="t" r="r" b="b"/>
            <a:pathLst>
              <a:path w="479860" h="426542">
                <a:moveTo>
                  <a:pt x="106636" y="53318"/>
                </a:moveTo>
                <a:cubicBezTo>
                  <a:pt x="106636" y="23910"/>
                  <a:pt x="130545" y="0"/>
                  <a:pt x="159953" y="0"/>
                </a:cubicBezTo>
                <a:lnTo>
                  <a:pt x="319907" y="0"/>
                </a:lnTo>
                <a:cubicBezTo>
                  <a:pt x="349315" y="0"/>
                  <a:pt x="373224" y="23910"/>
                  <a:pt x="373224" y="53318"/>
                </a:cubicBezTo>
                <a:lnTo>
                  <a:pt x="373224" y="106636"/>
                </a:lnTo>
                <a:lnTo>
                  <a:pt x="426542" y="106636"/>
                </a:lnTo>
                <a:cubicBezTo>
                  <a:pt x="455950" y="106636"/>
                  <a:pt x="479860" y="130545"/>
                  <a:pt x="479860" y="159953"/>
                </a:cubicBezTo>
                <a:lnTo>
                  <a:pt x="479860" y="373224"/>
                </a:lnTo>
                <a:cubicBezTo>
                  <a:pt x="479860" y="402633"/>
                  <a:pt x="455950" y="426542"/>
                  <a:pt x="426542" y="426542"/>
                </a:cubicBezTo>
                <a:lnTo>
                  <a:pt x="53318" y="426542"/>
                </a:lnTo>
                <a:cubicBezTo>
                  <a:pt x="23910" y="426542"/>
                  <a:pt x="0" y="402633"/>
                  <a:pt x="0" y="373224"/>
                </a:cubicBezTo>
                <a:lnTo>
                  <a:pt x="0" y="159953"/>
                </a:lnTo>
                <a:cubicBezTo>
                  <a:pt x="0" y="130545"/>
                  <a:pt x="23910" y="106636"/>
                  <a:pt x="53318" y="106636"/>
                </a:cubicBezTo>
                <a:lnTo>
                  <a:pt x="106636" y="106636"/>
                </a:lnTo>
                <a:lnTo>
                  <a:pt x="106636" y="53318"/>
                </a:lnTo>
                <a:close/>
                <a:moveTo>
                  <a:pt x="226601" y="293248"/>
                </a:moveTo>
                <a:cubicBezTo>
                  <a:pt x="211855" y="293248"/>
                  <a:pt x="199942" y="305161"/>
                  <a:pt x="199942" y="319907"/>
                </a:cubicBezTo>
                <a:lnTo>
                  <a:pt x="199942" y="386554"/>
                </a:lnTo>
                <a:lnTo>
                  <a:pt x="279918" y="386554"/>
                </a:lnTo>
                <a:lnTo>
                  <a:pt x="279918" y="319907"/>
                </a:lnTo>
                <a:cubicBezTo>
                  <a:pt x="279918" y="305161"/>
                  <a:pt x="268005" y="293248"/>
                  <a:pt x="253259" y="293248"/>
                </a:cubicBezTo>
                <a:lnTo>
                  <a:pt x="226601" y="293248"/>
                </a:lnTo>
                <a:close/>
                <a:moveTo>
                  <a:pt x="106636" y="306577"/>
                </a:moveTo>
                <a:lnTo>
                  <a:pt x="106636" y="279918"/>
                </a:lnTo>
                <a:cubicBezTo>
                  <a:pt x="106636" y="272587"/>
                  <a:pt x="100637" y="266589"/>
                  <a:pt x="93306" y="266589"/>
                </a:cubicBezTo>
                <a:lnTo>
                  <a:pt x="66647" y="266589"/>
                </a:lnTo>
                <a:cubicBezTo>
                  <a:pt x="59316" y="266589"/>
                  <a:pt x="53318" y="272587"/>
                  <a:pt x="53318" y="279918"/>
                </a:cubicBezTo>
                <a:lnTo>
                  <a:pt x="53318" y="306577"/>
                </a:lnTo>
                <a:cubicBezTo>
                  <a:pt x="53318" y="313908"/>
                  <a:pt x="59316" y="319907"/>
                  <a:pt x="66647" y="319907"/>
                </a:cubicBezTo>
                <a:lnTo>
                  <a:pt x="93306" y="319907"/>
                </a:lnTo>
                <a:cubicBezTo>
                  <a:pt x="100637" y="319907"/>
                  <a:pt x="106636" y="313908"/>
                  <a:pt x="106636" y="306577"/>
                </a:cubicBezTo>
                <a:close/>
                <a:moveTo>
                  <a:pt x="93306" y="213271"/>
                </a:moveTo>
                <a:cubicBezTo>
                  <a:pt x="100637" y="213271"/>
                  <a:pt x="106636" y="207273"/>
                  <a:pt x="106636" y="199942"/>
                </a:cubicBezTo>
                <a:lnTo>
                  <a:pt x="106636" y="173283"/>
                </a:lnTo>
                <a:cubicBezTo>
                  <a:pt x="106636" y="165952"/>
                  <a:pt x="100637" y="159953"/>
                  <a:pt x="93306" y="159953"/>
                </a:cubicBezTo>
                <a:lnTo>
                  <a:pt x="66647" y="159953"/>
                </a:lnTo>
                <a:cubicBezTo>
                  <a:pt x="59316" y="159953"/>
                  <a:pt x="53318" y="165952"/>
                  <a:pt x="53318" y="173283"/>
                </a:cubicBezTo>
                <a:lnTo>
                  <a:pt x="53318" y="199942"/>
                </a:lnTo>
                <a:cubicBezTo>
                  <a:pt x="53318" y="207273"/>
                  <a:pt x="59316" y="213271"/>
                  <a:pt x="66647" y="213271"/>
                </a:cubicBezTo>
                <a:lnTo>
                  <a:pt x="93306" y="213271"/>
                </a:lnTo>
                <a:close/>
                <a:moveTo>
                  <a:pt x="426542" y="306577"/>
                </a:moveTo>
                <a:lnTo>
                  <a:pt x="426542" y="279918"/>
                </a:lnTo>
                <a:cubicBezTo>
                  <a:pt x="426542" y="272587"/>
                  <a:pt x="420544" y="266589"/>
                  <a:pt x="413213" y="266589"/>
                </a:cubicBezTo>
                <a:lnTo>
                  <a:pt x="386554" y="266589"/>
                </a:lnTo>
                <a:cubicBezTo>
                  <a:pt x="379223" y="266589"/>
                  <a:pt x="373224" y="272587"/>
                  <a:pt x="373224" y="279918"/>
                </a:cubicBezTo>
                <a:lnTo>
                  <a:pt x="373224" y="306577"/>
                </a:lnTo>
                <a:cubicBezTo>
                  <a:pt x="373224" y="313908"/>
                  <a:pt x="379223" y="319907"/>
                  <a:pt x="386554" y="319907"/>
                </a:cubicBezTo>
                <a:lnTo>
                  <a:pt x="413213" y="319907"/>
                </a:lnTo>
                <a:cubicBezTo>
                  <a:pt x="420544" y="319907"/>
                  <a:pt x="426542" y="313908"/>
                  <a:pt x="426542" y="306577"/>
                </a:cubicBezTo>
                <a:close/>
                <a:moveTo>
                  <a:pt x="413213" y="213271"/>
                </a:moveTo>
                <a:cubicBezTo>
                  <a:pt x="420544" y="213271"/>
                  <a:pt x="426542" y="207273"/>
                  <a:pt x="426542" y="199942"/>
                </a:cubicBezTo>
                <a:lnTo>
                  <a:pt x="426542" y="173283"/>
                </a:lnTo>
                <a:cubicBezTo>
                  <a:pt x="426542" y="165952"/>
                  <a:pt x="420544" y="159953"/>
                  <a:pt x="413213" y="159953"/>
                </a:cubicBezTo>
                <a:lnTo>
                  <a:pt x="386554" y="159953"/>
                </a:lnTo>
                <a:cubicBezTo>
                  <a:pt x="379223" y="159953"/>
                  <a:pt x="373224" y="165952"/>
                  <a:pt x="373224" y="173283"/>
                </a:cubicBezTo>
                <a:lnTo>
                  <a:pt x="373224" y="199942"/>
                </a:lnTo>
                <a:cubicBezTo>
                  <a:pt x="373224" y="207273"/>
                  <a:pt x="379223" y="213271"/>
                  <a:pt x="386554" y="213271"/>
                </a:cubicBezTo>
                <a:lnTo>
                  <a:pt x="413213" y="213271"/>
                </a:lnTo>
                <a:close/>
                <a:moveTo>
                  <a:pt x="219936" y="86641"/>
                </a:moveTo>
                <a:lnTo>
                  <a:pt x="219936" y="113300"/>
                </a:lnTo>
                <a:lnTo>
                  <a:pt x="193277" y="113300"/>
                </a:lnTo>
                <a:cubicBezTo>
                  <a:pt x="185946" y="113300"/>
                  <a:pt x="179948" y="119299"/>
                  <a:pt x="179948" y="126630"/>
                </a:cubicBezTo>
                <a:lnTo>
                  <a:pt x="179948" y="139959"/>
                </a:lnTo>
                <a:cubicBezTo>
                  <a:pt x="179948" y="147290"/>
                  <a:pt x="185946" y="153289"/>
                  <a:pt x="193277" y="153289"/>
                </a:cubicBezTo>
                <a:lnTo>
                  <a:pt x="219936" y="153289"/>
                </a:lnTo>
                <a:lnTo>
                  <a:pt x="219936" y="179948"/>
                </a:lnTo>
                <a:cubicBezTo>
                  <a:pt x="219936" y="187279"/>
                  <a:pt x="225934" y="193277"/>
                  <a:pt x="233265" y="193277"/>
                </a:cubicBezTo>
                <a:lnTo>
                  <a:pt x="246595" y="193277"/>
                </a:lnTo>
                <a:cubicBezTo>
                  <a:pt x="253926" y="193277"/>
                  <a:pt x="259924" y="187279"/>
                  <a:pt x="259924" y="179948"/>
                </a:cubicBezTo>
                <a:lnTo>
                  <a:pt x="259924" y="153289"/>
                </a:lnTo>
                <a:lnTo>
                  <a:pt x="286583" y="153289"/>
                </a:lnTo>
                <a:cubicBezTo>
                  <a:pt x="293914" y="153289"/>
                  <a:pt x="299913" y="147290"/>
                  <a:pt x="299913" y="139959"/>
                </a:cubicBezTo>
                <a:lnTo>
                  <a:pt x="299913" y="126630"/>
                </a:lnTo>
                <a:cubicBezTo>
                  <a:pt x="299913" y="119299"/>
                  <a:pt x="293914" y="113300"/>
                  <a:pt x="286583" y="113300"/>
                </a:cubicBezTo>
                <a:lnTo>
                  <a:pt x="259924" y="113300"/>
                </a:lnTo>
                <a:lnTo>
                  <a:pt x="259924" y="86641"/>
                </a:lnTo>
                <a:cubicBezTo>
                  <a:pt x="259924" y="79310"/>
                  <a:pt x="253926" y="73312"/>
                  <a:pt x="246595" y="73312"/>
                </a:cubicBezTo>
                <a:lnTo>
                  <a:pt x="233265" y="73312"/>
                </a:lnTo>
                <a:cubicBezTo>
                  <a:pt x="225934" y="73312"/>
                  <a:pt x="219936" y="79310"/>
                  <a:pt x="219936" y="86641"/>
                </a:cubicBezTo>
                <a:close/>
              </a:path>
            </a:pathLst>
          </a:custGeom>
          <a:solidFill>
            <a:srgbClr val="C8A97E">
              <a:alpha val="30196"/>
            </a:srgbClr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872</Words>
  <Application>Microsoft Office PowerPoint</Application>
  <PresentationFormat>Widescreen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Quattrocento Sans</vt:lpstr>
      <vt:lpstr>Liter</vt:lpstr>
      <vt:lpstr>Arial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ICE-478 Project: Brain Cancer MRI Classification</dc:title>
  <dc:subject>ICE-478 Project: Brain Cancer MRI Classification</dc:subject>
  <dc:creator>Kimi</dc:creator>
  <cp:lastModifiedBy>user</cp:lastModifiedBy>
  <cp:revision>1</cp:revision>
  <dcterms:created xsi:type="dcterms:W3CDTF">2026-04-21T09:04:54Z</dcterms:created>
  <dcterms:modified xsi:type="dcterms:W3CDTF">2026-04-22T05:41:43Z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{"Label":"ICE-478 Project: Brain Cancer MRI Classification","ContentProducer":"001191110108MACG2KBH8F10000","ProduceID":"19daf480-9ff2-8d15-8000-0000ac53f132","ReservedCode1":"","ContentPropagator":"001191110108MACG2KBH8F20000","PropagateID":"19daf480-9ff2-8d15-8000-0000ac53f132","ReservedCode2":""}</vt:lpwstr>
  </property>
</Properties>
</file>