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9" d="100"/>
          <a:sy n="89" d="100"/>
        </p:scale>
        <p:origin x="-1258" y="2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272" y="136748"/>
            <a:ext cx="8534400" cy="953369"/>
          </a:xfrm>
        </p:spPr>
        <p:txBody>
          <a:bodyPr>
            <a:normAutofit/>
          </a:bodyPr>
          <a:lstStyle/>
          <a:p>
            <a:r>
              <a:rPr lang="en-GB" sz="2300" b="1" i="1" dirty="0"/>
              <a:t>A Simple Framework for Contrastive Learning of Visual Representations (</a:t>
            </a:r>
            <a:r>
              <a:rPr lang="en-GB" sz="2300" b="1" i="1" dirty="0" err="1"/>
              <a:t>SimCLR</a:t>
            </a:r>
            <a:r>
              <a:rPr lang="en-GB" sz="2300" b="1" i="1" dirty="0"/>
              <a:t>)</a:t>
            </a:r>
            <a:endParaRPr lang="en-US" sz="23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7749" y="1527048"/>
            <a:ext cx="8503920" cy="4572000"/>
          </a:xfrm>
        </p:spPr>
        <p:txBody>
          <a:bodyPr/>
          <a:lstStyle/>
          <a:p>
            <a:pPr marL="0" indent="0">
              <a:buNone/>
            </a:pPr>
            <a:r>
              <a:rPr lang="en-GB" sz="2200" dirty="0" err="1"/>
              <a:t>SimCLR</a:t>
            </a:r>
            <a:r>
              <a:rPr lang="en-GB" sz="2200" dirty="0"/>
              <a:t> is a self-supervised learning (SSL) method that learns useful image features without using </a:t>
            </a:r>
            <a:r>
              <a:rPr lang="en-GB" sz="2200" dirty="0" err="1" smtClean="0"/>
              <a:t>labeled</a:t>
            </a:r>
            <a:r>
              <a:rPr lang="en-GB" sz="2200" dirty="0" smtClean="0"/>
              <a:t> data.</a:t>
            </a:r>
          </a:p>
          <a:p>
            <a:endParaRPr lang="en-GB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4" r="1543"/>
          <a:stretch/>
        </p:blipFill>
        <p:spPr>
          <a:xfrm>
            <a:off x="3631962" y="2352910"/>
            <a:ext cx="5315486" cy="37461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1752" y="2352910"/>
            <a:ext cx="3215411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The model learns by comparing different augmented versions of the same image and recognizing that they belong together</a:t>
            </a:r>
            <a:r>
              <a:rPr lang="en-GB" sz="2000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Similar </a:t>
            </a:r>
            <a:r>
              <a:rPr lang="en-GB" dirty="0"/>
              <a:t>images → representations should be close </a:t>
            </a:r>
            <a:endParaRPr lang="en-GB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Different </a:t>
            </a:r>
            <a:r>
              <a:rPr lang="en-GB" dirty="0"/>
              <a:t>images → representations should be far apart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666899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What is Self-Supervised Learning (SSL)?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56303" y="1471049"/>
            <a:ext cx="8229600" cy="4525963"/>
          </a:xfrm>
        </p:spPr>
        <p:txBody>
          <a:bodyPr/>
          <a:lstStyle/>
          <a:p>
            <a:r>
              <a:rPr sz="2800" dirty="0" smtClean="0"/>
              <a:t>SSL </a:t>
            </a:r>
            <a:r>
              <a:rPr sz="2800" dirty="0"/>
              <a:t>learns useful features without using labels first</a:t>
            </a:r>
          </a:p>
          <a:p>
            <a:r>
              <a:rPr sz="2800" dirty="0" smtClean="0"/>
              <a:t>The </a:t>
            </a:r>
            <a:r>
              <a:rPr sz="2800" dirty="0"/>
              <a:t>model creates its own learning task</a:t>
            </a:r>
          </a:p>
          <a:p>
            <a:r>
              <a:rPr sz="2800" dirty="0" smtClean="0"/>
              <a:t>Helps </a:t>
            </a:r>
            <a:r>
              <a:rPr sz="2800" dirty="0"/>
              <a:t>learn patterns from large image datasets</a:t>
            </a:r>
          </a:p>
          <a:p>
            <a:r>
              <a:rPr sz="2800" dirty="0" smtClean="0"/>
              <a:t>Useful </a:t>
            </a:r>
            <a:r>
              <a:rPr sz="2800" dirty="0"/>
              <a:t>for medical images like brain MRI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Why SSL for Brain MRI?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sz="2800" dirty="0" smtClean="0"/>
              <a:t>MRI </a:t>
            </a:r>
            <a:r>
              <a:rPr sz="2800" dirty="0"/>
              <a:t>images contain important texture and structure</a:t>
            </a:r>
          </a:p>
          <a:p>
            <a:r>
              <a:rPr sz="2800" dirty="0" smtClean="0"/>
              <a:t>Medical </a:t>
            </a:r>
            <a:r>
              <a:rPr sz="2800" dirty="0"/>
              <a:t>labels are often limited or expensive</a:t>
            </a:r>
          </a:p>
          <a:p>
            <a:r>
              <a:rPr sz="2800" dirty="0" smtClean="0"/>
              <a:t>SSL </a:t>
            </a:r>
            <a:r>
              <a:rPr sz="2800" dirty="0"/>
              <a:t>learns representations before classification</a:t>
            </a:r>
          </a:p>
          <a:p>
            <a:r>
              <a:rPr sz="2800" dirty="0" smtClean="0"/>
              <a:t>Helps </a:t>
            </a:r>
            <a:r>
              <a:rPr sz="2800" dirty="0"/>
              <a:t>models understand brain scan patterns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SimCLR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471587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 </a:t>
            </a:r>
            <a:r>
              <a:rPr sz="2400" dirty="0" smtClean="0"/>
              <a:t>Uses </a:t>
            </a:r>
            <a:r>
              <a:rPr sz="2400" dirty="0"/>
              <a:t>two augmented views of the same image</a:t>
            </a:r>
          </a:p>
          <a:p>
            <a:r>
              <a:rPr lang="en-GB" sz="2400" dirty="0"/>
              <a:t> </a:t>
            </a:r>
            <a:r>
              <a:rPr sz="2400" dirty="0" smtClean="0"/>
              <a:t>Positive </a:t>
            </a:r>
            <a:r>
              <a:rPr sz="2400" dirty="0"/>
              <a:t>pair: two versions of the same MRI</a:t>
            </a:r>
          </a:p>
          <a:p>
            <a:r>
              <a:rPr lang="en-GB" sz="2400" dirty="0"/>
              <a:t> </a:t>
            </a:r>
            <a:r>
              <a:rPr sz="2400" dirty="0" smtClean="0"/>
              <a:t>Negative </a:t>
            </a:r>
            <a:r>
              <a:rPr sz="2400" dirty="0"/>
              <a:t>pairs: images from other samples</a:t>
            </a:r>
          </a:p>
          <a:p>
            <a:r>
              <a:rPr lang="en-GB" sz="2400" dirty="0"/>
              <a:t> </a:t>
            </a:r>
            <a:r>
              <a:rPr sz="2400" dirty="0" smtClean="0"/>
              <a:t>Learns </a:t>
            </a:r>
            <a:r>
              <a:rPr sz="2400" dirty="0"/>
              <a:t>similarity between related </a:t>
            </a:r>
            <a:r>
              <a:rPr sz="2400" dirty="0" smtClean="0"/>
              <a:t>images</a:t>
            </a:r>
            <a:endParaRPr lang="en-US" sz="2400" dirty="0"/>
          </a:p>
          <a:p>
            <a:endParaRPr lang="en-GB" sz="1600" dirty="0" smtClean="0"/>
          </a:p>
          <a:p>
            <a:pPr marL="0" indent="0">
              <a:buNone/>
            </a:pPr>
            <a:r>
              <a:rPr lang="en-US" sz="2000" dirty="0" smtClean="0"/>
              <a:t>  Simple Diagram:</a:t>
            </a:r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en-US" sz="1700" dirty="0" smtClean="0"/>
              <a:t>Original </a:t>
            </a:r>
            <a:r>
              <a:rPr lang="en-US" sz="1700" dirty="0"/>
              <a:t>MRI</a:t>
            </a:r>
          </a:p>
          <a:p>
            <a:pPr marL="0" indent="0">
              <a:buNone/>
            </a:pPr>
            <a:r>
              <a:rPr lang="en-US" sz="1700" dirty="0"/>
              <a:t>     |</a:t>
            </a:r>
          </a:p>
          <a:p>
            <a:pPr marL="0" indent="0">
              <a:buNone/>
            </a:pPr>
            <a:r>
              <a:rPr lang="en-US" sz="1700" dirty="0"/>
              <a:t>     |----&gt; Augmented View 1 ----&gt; Encoder ----&gt; Vector A</a:t>
            </a:r>
          </a:p>
          <a:p>
            <a:pPr marL="0" indent="0">
              <a:buNone/>
            </a:pPr>
            <a:r>
              <a:rPr lang="en-US" sz="1700" dirty="0"/>
              <a:t>     |</a:t>
            </a:r>
          </a:p>
          <a:p>
            <a:pPr marL="0" indent="0">
              <a:buNone/>
            </a:pPr>
            <a:r>
              <a:rPr lang="en-US" sz="1700" dirty="0"/>
              <a:t>     |----&gt; Augmented View 2 ----&gt; Encoder ----&gt; Vector </a:t>
            </a:r>
            <a:r>
              <a:rPr lang="en-US" sz="1700" dirty="0" smtClean="0"/>
              <a:t>B</a:t>
            </a:r>
            <a:endParaRPr lang="en-US" sz="1700" dirty="0"/>
          </a:p>
          <a:p>
            <a:pPr marL="0" indent="0">
              <a:buNone/>
            </a:pPr>
            <a:r>
              <a:rPr lang="en-US" sz="1700" dirty="0" smtClean="0"/>
              <a:t>    Goal</a:t>
            </a:r>
            <a:r>
              <a:rPr lang="en-US" sz="1700" dirty="0"/>
              <a:t>:</a:t>
            </a:r>
          </a:p>
          <a:p>
            <a:pPr marL="0" indent="0">
              <a:buNone/>
            </a:pPr>
            <a:r>
              <a:rPr lang="en-US" sz="1700" dirty="0" smtClean="0"/>
              <a:t>    Vector </a:t>
            </a:r>
            <a:r>
              <a:rPr lang="en-US" sz="1700" dirty="0"/>
              <a:t>A ≈ Vector B</a:t>
            </a:r>
          </a:p>
          <a:p>
            <a:pPr marL="0" indent="0">
              <a:buNone/>
            </a:pPr>
            <a:r>
              <a:rPr lang="en-US" sz="1700" dirty="0" smtClean="0"/>
              <a:t>    Other </a:t>
            </a:r>
            <a:r>
              <a:rPr lang="en-US" sz="1700" dirty="0"/>
              <a:t>images → far away</a:t>
            </a:r>
            <a:endParaRPr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BYOL (Bootstrap Your Own Latent)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400" dirty="0" smtClean="0"/>
              <a:t>Uses </a:t>
            </a:r>
            <a:r>
              <a:rPr sz="2400" dirty="0"/>
              <a:t>two augmented views of the same image</a:t>
            </a:r>
          </a:p>
          <a:p>
            <a:r>
              <a:rPr sz="2400" dirty="0" smtClean="0"/>
              <a:t>Online </a:t>
            </a:r>
            <a:r>
              <a:rPr sz="2400" dirty="0"/>
              <a:t>network learns from a target network</a:t>
            </a:r>
          </a:p>
          <a:p>
            <a:r>
              <a:rPr sz="2400" dirty="0" smtClean="0"/>
              <a:t>No </a:t>
            </a:r>
            <a:r>
              <a:rPr sz="2400" dirty="0"/>
              <a:t>explicit negative pairs required</a:t>
            </a:r>
          </a:p>
          <a:p>
            <a:r>
              <a:rPr sz="2400" dirty="0" smtClean="0"/>
              <a:t>Works </a:t>
            </a:r>
            <a:r>
              <a:rPr sz="2400" dirty="0"/>
              <a:t>well when images are visually </a:t>
            </a:r>
            <a:r>
              <a:rPr sz="2400" dirty="0" smtClean="0"/>
              <a:t>similar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   Diagram:</a:t>
            </a:r>
          </a:p>
          <a:p>
            <a:pPr marL="0" indent="0">
              <a:buNone/>
            </a:pPr>
            <a:r>
              <a:rPr lang="en-US" sz="2200" dirty="0" smtClean="0"/>
              <a:t>   Original </a:t>
            </a:r>
            <a:r>
              <a:rPr lang="en-US" sz="2200" dirty="0"/>
              <a:t>MRI</a:t>
            </a:r>
          </a:p>
          <a:p>
            <a:pPr marL="0" indent="0">
              <a:buNone/>
            </a:pPr>
            <a:r>
              <a:rPr lang="en-US" sz="2200" dirty="0"/>
              <a:t>     |</a:t>
            </a:r>
          </a:p>
          <a:p>
            <a:pPr marL="0" indent="0">
              <a:buNone/>
            </a:pPr>
            <a:r>
              <a:rPr lang="en-US" sz="2200" dirty="0"/>
              <a:t>     |----&gt; View 1 ----&gt; Online Encoder ----&gt; Predictor ----&gt; Output A</a:t>
            </a:r>
          </a:p>
          <a:p>
            <a:pPr marL="0" indent="0">
              <a:buNone/>
            </a:pPr>
            <a:r>
              <a:rPr lang="en-US" sz="2200" dirty="0"/>
              <a:t>     |</a:t>
            </a:r>
          </a:p>
          <a:p>
            <a:pPr marL="0" indent="0">
              <a:buNone/>
            </a:pPr>
            <a:r>
              <a:rPr lang="en-US" sz="2200" dirty="0"/>
              <a:t>     |----&gt; View 2 ----&gt; Target Encoder --------------------&gt; Output B</a:t>
            </a:r>
          </a:p>
          <a:p>
            <a:pPr marL="0" indent="0">
              <a:buNone/>
            </a:pPr>
            <a:r>
              <a:rPr lang="en-US" sz="2200" dirty="0" smtClean="0"/>
              <a:t>   Goal</a:t>
            </a:r>
            <a:r>
              <a:rPr lang="en-US" sz="2200" dirty="0"/>
              <a:t>:</a:t>
            </a:r>
          </a:p>
          <a:p>
            <a:pPr marL="0" indent="0">
              <a:buNone/>
            </a:pPr>
            <a:r>
              <a:rPr lang="en-US" sz="2200" dirty="0" smtClean="0"/>
              <a:t>   Output </a:t>
            </a:r>
            <a:r>
              <a:rPr lang="en-US" sz="2200" dirty="0"/>
              <a:t>A ≈ Output B</a:t>
            </a:r>
            <a:endParaRPr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MAE (Masked Autoencoder)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sz="2400" dirty="0" smtClean="0"/>
              <a:t>Splits </a:t>
            </a:r>
            <a:r>
              <a:rPr sz="2400" dirty="0"/>
              <a:t>image into patches</a:t>
            </a:r>
          </a:p>
          <a:p>
            <a:r>
              <a:rPr sz="2400" dirty="0" smtClean="0"/>
              <a:t>Many </a:t>
            </a:r>
            <a:r>
              <a:rPr sz="2400" dirty="0"/>
              <a:t>patches are hidden</a:t>
            </a:r>
          </a:p>
          <a:p>
            <a:r>
              <a:rPr sz="2400" dirty="0" smtClean="0"/>
              <a:t>Model </a:t>
            </a:r>
            <a:r>
              <a:rPr sz="2400" dirty="0"/>
              <a:t>predicts missing patches</a:t>
            </a:r>
          </a:p>
          <a:p>
            <a:r>
              <a:rPr sz="2400" dirty="0" smtClean="0"/>
              <a:t>Learns </a:t>
            </a:r>
            <a:r>
              <a:rPr sz="2400" dirty="0"/>
              <a:t>spatial structure of </a:t>
            </a:r>
            <a:r>
              <a:rPr sz="2400" dirty="0" smtClean="0"/>
              <a:t>image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   Diagram: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000" dirty="0"/>
              <a:t>Original MRI</a:t>
            </a:r>
          </a:p>
          <a:p>
            <a:pPr marL="0" indent="0">
              <a:buNone/>
            </a:pPr>
            <a:r>
              <a:rPr lang="en-US" sz="2000" dirty="0"/>
              <a:t>     |</a:t>
            </a:r>
          </a:p>
          <a:p>
            <a:pPr marL="0" indent="0">
              <a:buNone/>
            </a:pPr>
            <a:r>
              <a:rPr lang="en-US" sz="2000" dirty="0" smtClean="0"/>
              <a:t>  Split </a:t>
            </a:r>
            <a:r>
              <a:rPr lang="en-US" sz="2000" dirty="0"/>
              <a:t>into patches</a:t>
            </a:r>
          </a:p>
          <a:p>
            <a:pPr marL="0" indent="0">
              <a:buNone/>
            </a:pPr>
            <a:r>
              <a:rPr lang="en-US" sz="2000" dirty="0"/>
              <a:t>     |</a:t>
            </a:r>
          </a:p>
          <a:p>
            <a:pPr marL="0" indent="0">
              <a:buNone/>
            </a:pPr>
            <a:r>
              <a:rPr lang="en-US" sz="2000" dirty="0" smtClean="0"/>
              <a:t>  Mask </a:t>
            </a:r>
            <a:r>
              <a:rPr lang="en-US" sz="2000" dirty="0"/>
              <a:t>many patches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   Visible </a:t>
            </a:r>
            <a:r>
              <a:rPr lang="en-US" sz="2000" dirty="0"/>
              <a:t>patches → Encoder → Decoder → Reconstructed Image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Why These Three Methods?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sz="2800" dirty="0" err="1" smtClean="0"/>
              <a:t>SimCLR</a:t>
            </a:r>
            <a:r>
              <a:rPr sz="2800" dirty="0"/>
              <a:t>: contrastive learning</a:t>
            </a:r>
          </a:p>
          <a:p>
            <a:r>
              <a:rPr sz="2800" dirty="0" smtClean="0"/>
              <a:t>BYOL</a:t>
            </a:r>
            <a:r>
              <a:rPr sz="2800" dirty="0"/>
              <a:t>: teacher–student learning without negatives</a:t>
            </a:r>
          </a:p>
          <a:p>
            <a:r>
              <a:rPr sz="2800" dirty="0" smtClean="0"/>
              <a:t>MAE</a:t>
            </a:r>
            <a:r>
              <a:rPr sz="2800" dirty="0"/>
              <a:t>: reconstruction-based learning</a:t>
            </a:r>
          </a:p>
          <a:p>
            <a:r>
              <a:rPr sz="2800" dirty="0" smtClean="0"/>
              <a:t>Covers </a:t>
            </a:r>
            <a:r>
              <a:rPr sz="2800" dirty="0"/>
              <a:t>three major SSL approaches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Application to Brain MRI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sz="2800" dirty="0" err="1" smtClean="0"/>
              <a:t>SimCLR</a:t>
            </a:r>
            <a:r>
              <a:rPr sz="2800" dirty="0" smtClean="0"/>
              <a:t> </a:t>
            </a:r>
            <a:r>
              <a:rPr sz="2800" dirty="0"/>
              <a:t>learns visual similarity</a:t>
            </a:r>
          </a:p>
          <a:p>
            <a:r>
              <a:rPr sz="2800" dirty="0" smtClean="0"/>
              <a:t>BYOL </a:t>
            </a:r>
            <a:r>
              <a:rPr sz="2800" dirty="0"/>
              <a:t>learns stable representations</a:t>
            </a:r>
          </a:p>
          <a:p>
            <a:r>
              <a:rPr sz="2800" dirty="0" smtClean="0"/>
              <a:t>MAE </a:t>
            </a:r>
            <a:r>
              <a:rPr sz="2800" dirty="0"/>
              <a:t>learns spatial understanding</a:t>
            </a:r>
          </a:p>
          <a:p>
            <a:r>
              <a:rPr sz="2800" dirty="0" smtClean="0"/>
              <a:t>Useful </a:t>
            </a:r>
            <a:r>
              <a:rPr sz="2800" dirty="0"/>
              <a:t>before tumor classification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dirty="0" smtClean="0"/>
              <a:t>•Chen </a:t>
            </a:r>
            <a:r>
              <a:rPr dirty="0"/>
              <a:t>et al., 2020 – </a:t>
            </a:r>
            <a:r>
              <a:rPr dirty="0" err="1"/>
              <a:t>SimCLR</a:t>
            </a:r>
            <a:endParaRPr dirty="0"/>
          </a:p>
          <a:p>
            <a:r>
              <a:rPr dirty="0"/>
              <a:t>• Grill et al., 2020 – BYOL</a:t>
            </a:r>
          </a:p>
          <a:p>
            <a:r>
              <a:rPr dirty="0"/>
              <a:t>• He et al., 2021 – MAE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56</TotalTime>
  <Words>406</Words>
  <Application>Microsoft Office PowerPoint</Application>
  <PresentationFormat>On-screen Show (4:3)</PresentationFormat>
  <Paragraphs>70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Civic</vt:lpstr>
      <vt:lpstr>A Simple Framework for Contrastive Learning of Visual Representations (SimCLR)</vt:lpstr>
      <vt:lpstr>What is Self-Supervised Learning (SSL)?</vt:lpstr>
      <vt:lpstr>Why SSL for Brain MRI?</vt:lpstr>
      <vt:lpstr>SimCLR</vt:lpstr>
      <vt:lpstr>BYOL (Bootstrap Your Own Latent)</vt:lpstr>
      <vt:lpstr>MAE (Masked Autoencoder)</vt:lpstr>
      <vt:lpstr>Why These Three Methods?</vt:lpstr>
      <vt:lpstr>Application to Brain MRI</vt:lpstr>
      <vt:lpstr>References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Simple Framework for Contrastive Learning of Visual Representations (SimCLR)</dc:title>
  <dc:creator>hp</dc:creator>
  <dc:description>generated using python-pptx</dc:description>
  <cp:lastModifiedBy>hp</cp:lastModifiedBy>
  <cp:revision>8</cp:revision>
  <dcterms:created xsi:type="dcterms:W3CDTF">2013-01-27T09:14:16Z</dcterms:created>
  <dcterms:modified xsi:type="dcterms:W3CDTF">2026-03-31T18:26:08Z</dcterms:modified>
</cp:coreProperties>
</file>